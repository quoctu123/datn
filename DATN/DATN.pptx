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307" r:id="rId3"/>
    <p:sldId id="308" r:id="rId4"/>
    <p:sldId id="309" r:id="rId5"/>
    <p:sldId id="314" r:id="rId6"/>
    <p:sldId id="310" r:id="rId7"/>
    <p:sldId id="311" r:id="rId8"/>
    <p:sldId id="312" r:id="rId9"/>
    <p:sldId id="319" r:id="rId10"/>
    <p:sldId id="313" r:id="rId11"/>
    <p:sldId id="315" r:id="rId12"/>
    <p:sldId id="317" r:id="rId13"/>
    <p:sldId id="316" r:id="rId14"/>
    <p:sldId id="320" r:id="rId15"/>
    <p:sldId id="318" r:id="rId16"/>
    <p:sldId id="260" r:id="rId1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641"/>
    <a:srgbClr val="CF3848"/>
    <a:srgbClr val="2F527D"/>
    <a:srgbClr val="2C429E"/>
    <a:srgbClr val="2F5F7D"/>
    <a:srgbClr val="3760AA"/>
    <a:srgbClr val="CD62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83" autoAdjust="0"/>
    <p:restoredTop sz="70647" autoAdjust="0"/>
  </p:normalViewPr>
  <p:slideViewPr>
    <p:cSldViewPr>
      <p:cViewPr varScale="1">
        <p:scale>
          <a:sx n="58" d="100"/>
          <a:sy n="58" d="100"/>
        </p:scale>
        <p:origin x="1757" y="43"/>
      </p:cViewPr>
      <p:guideLst>
        <p:guide orient="horz" pos="2160"/>
        <p:guide pos="3839"/>
      </p:guideLst>
    </p:cSldViewPr>
  </p:slideViewPr>
  <p:notesTextViewPr>
    <p:cViewPr>
      <p:scale>
        <a:sx n="1" d="1"/>
        <a:sy n="1" d="1"/>
      </p:scale>
      <p:origin x="0" y="0"/>
    </p:cViewPr>
  </p:notesTextViewPr>
  <p:notesViewPr>
    <p:cSldViewPr>
      <p:cViewPr varScale="1">
        <p:scale>
          <a:sx n="67" d="100"/>
          <a:sy n="67" d="100"/>
        </p:scale>
        <p:origin x="-327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EE0E325-906D-4218-8E46-2D1D4C5FCDE0}" type="datetimeFigureOut">
              <a:rPr lang="en-US" smtClean="0"/>
              <a:t>1/11/2026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42A48B8-15CE-4E5B-B1BD-D7D8FFBF1C1F}" type="slidenum">
              <a:rPr lang="en-US" smtClean="0"/>
              <a:t>‹#›</a:t>
            </a:fld>
            <a:endParaRPr lang="en-US"/>
          </a:p>
        </p:txBody>
      </p:sp>
    </p:spTree>
    <p:extLst>
      <p:ext uri="{BB962C8B-B14F-4D97-AF65-F5344CB8AC3E}">
        <p14:creationId xmlns:p14="http://schemas.microsoft.com/office/powerpoint/2010/main" val="54683108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D45C48-F54E-48B3-A405-2C758A411920}" type="datetimeFigureOut">
              <a:rPr lang="en-US" smtClean="0"/>
              <a:t>1/11/2026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057ECC-F463-4F90-8C57-DC1E0BC56B44}" type="slidenum">
              <a:rPr lang="en-US" smtClean="0"/>
              <a:t>‹#›</a:t>
            </a:fld>
            <a:endParaRPr lang="en-US"/>
          </a:p>
        </p:txBody>
      </p:sp>
    </p:spTree>
    <p:extLst>
      <p:ext uri="{BB962C8B-B14F-4D97-AF65-F5344CB8AC3E}">
        <p14:creationId xmlns:p14="http://schemas.microsoft.com/office/powerpoint/2010/main" val="38676598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Hiện nay, nhu cầu gửi xe tại các chung cư, trường học và văn phòng ngày càng gia tăng.</a:t>
            </a:r>
            <a:br>
              <a:rPr lang="vi-VN" smtClean="0"/>
            </a:br>
            <a:r>
              <a:rPr lang="vi-VN" smtClean="0"/>
              <a:t>Tuy nhiên, nhiều bãi xe vẫn đang được quản lý theo phương pháp thủ công.</a:t>
            </a:r>
          </a:p>
          <a:p>
            <a:r>
              <a:rPr lang="vi-VN" smtClean="0"/>
              <a:t>Điều này dẫn đến nhiều hạn chế như dễ xảy ra nhầm lẫn, sai sót, khó lưu trữ và thống kê dữ liệu, cũng như tốn nhiều thời gian vận hành.</a:t>
            </a:r>
          </a:p>
          <a:p>
            <a:r>
              <a:rPr lang="vi-VN" smtClean="0"/>
              <a:t>Vì vậy, dự án của chúng tôi ứng dụng công nghệ IoT nhằm tự động hóa công tác quản lý bãi xe, từ đó nâng cao hiệu quả và độ chính xác của hệ thống.</a:t>
            </a:r>
            <a:endParaRPr lang="vi-VN"/>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2</a:t>
            </a:fld>
            <a:endParaRPr lang="en-US"/>
          </a:p>
        </p:txBody>
      </p:sp>
    </p:spTree>
    <p:extLst>
      <p:ext uri="{BB962C8B-B14F-4D97-AF65-F5344CB8AC3E}">
        <p14:creationId xmlns:p14="http://schemas.microsoft.com/office/powerpoint/2010/main" val="976493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Mục tiêu của đồ án là xây dựng một hệ thống quản lý bãi xe thông minh dựa trên công nghệ IoT.</a:t>
            </a:r>
            <a:br>
              <a:rPr lang="vi-VN" smtClean="0"/>
            </a:br>
            <a:r>
              <a:rPr lang="vi-VN" smtClean="0"/>
              <a:t>Hệ thống sử dụng thẻ RFID để nhận dạng phương tiện, đồng thời tự động xác định quá trình xe vào và ra bãi.</a:t>
            </a:r>
            <a:br>
              <a:rPr lang="vi-VN" smtClean="0"/>
            </a:br>
            <a:r>
              <a:rPr lang="vi-VN" smtClean="0"/>
              <a:t>Người dùng được phân loại thành cư dân và khách vãng lai nhằm hỗ trợ các chính sách quản lý khác nhau.</a:t>
            </a:r>
            <a:br>
              <a:rPr lang="vi-VN" smtClean="0"/>
            </a:br>
            <a:r>
              <a:rPr lang="vi-VN" smtClean="0"/>
              <a:t>Toàn bộ hoạt động của bãi xe được giám sát và quản lý tập trung thông qua hệ thống website.</a:t>
            </a:r>
            <a:br>
              <a:rPr lang="vi-VN" smtClean="0"/>
            </a:br>
            <a:r>
              <a:rPr lang="vi-VN" smtClean="0"/>
              <a:t>Bên cạnh đó, hệ thống được thiết kế theo hướng ổn định, dễ triển khai và có khả năng mở rộng trong tương lai.</a:t>
            </a:r>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3</a:t>
            </a:fld>
            <a:endParaRPr lang="en-US"/>
          </a:p>
        </p:txBody>
      </p:sp>
    </p:spTree>
    <p:extLst>
      <p:ext uri="{BB962C8B-B14F-4D97-AF65-F5344CB8AC3E}">
        <p14:creationId xmlns:p14="http://schemas.microsoft.com/office/powerpoint/2010/main" val="1921005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bãi giữ xe thông minh sử dụng </a:t>
            </a:r>
            <a:r>
              <a:rPr lang="vi-VN" b="1" smtClean="0"/>
              <a:t>Arduino/ESP32</a:t>
            </a:r>
            <a:r>
              <a:rPr lang="vi-VN" smtClean="0"/>
              <a:t> làm bộ điều khiển trung tâm, kết hợp </a:t>
            </a:r>
            <a:r>
              <a:rPr lang="vi-VN" b="1" smtClean="0"/>
              <a:t>RFID RC522</a:t>
            </a:r>
            <a:r>
              <a:rPr lang="vi-VN" smtClean="0"/>
              <a:t> để xác thực thẻ, </a:t>
            </a:r>
            <a:r>
              <a:rPr lang="vi-VN" b="1" smtClean="0"/>
              <a:t>servo</a:t>
            </a:r>
            <a:r>
              <a:rPr lang="vi-VN" smtClean="0"/>
              <a:t> để điều khiển cổng và </a:t>
            </a:r>
            <a:r>
              <a:rPr lang="vi-VN" b="1" smtClean="0"/>
              <a:t>LCD</a:t>
            </a:r>
            <a:r>
              <a:rPr lang="vi-VN" smtClean="0"/>
              <a:t> để hiển thị thông tin.</a:t>
            </a:r>
            <a:br>
              <a:rPr lang="vi-VN" smtClean="0"/>
            </a:br>
            <a:r>
              <a:rPr lang="vi-VN" b="1" smtClean="0"/>
              <a:t>Camera</a:t>
            </a:r>
            <a:r>
              <a:rPr lang="vi-VN" smtClean="0"/>
              <a:t> được dùng để nhận dạng biển số xe.</a:t>
            </a:r>
          </a:p>
          <a:p>
            <a:r>
              <a:rPr lang="vi-VN" smtClean="0"/>
              <a:t>Về phần mềm, </a:t>
            </a:r>
            <a:r>
              <a:rPr lang="vi-VN" b="1" smtClean="0"/>
              <a:t>Arduino C/C++</a:t>
            </a:r>
            <a:r>
              <a:rPr lang="vi-VN" smtClean="0"/>
              <a:t> điều khiển phần cứng, </a:t>
            </a:r>
            <a:r>
              <a:rPr lang="vi-VN" b="1" smtClean="0"/>
              <a:t>Python</a:t>
            </a:r>
            <a:r>
              <a:rPr lang="vi-VN" smtClean="0"/>
              <a:t> xử lý hình ảnh và nhận dạng biển số, còn </a:t>
            </a:r>
            <a:r>
              <a:rPr lang="vi-VN" b="1" smtClean="0"/>
              <a:t>PHP/MySQL</a:t>
            </a:r>
            <a:r>
              <a:rPr lang="vi-VN" smtClean="0"/>
              <a:t> dùng để lưu trữ dữ liệu và quản lý hệ thống trên web.</a:t>
            </a:r>
            <a:br>
              <a:rPr lang="vi-VN" smtClean="0"/>
            </a:br>
            <a:r>
              <a:rPr lang="vi-VN" smtClean="0"/>
              <a:t>Các thiết bị giao tiếp với nhau thông qua </a:t>
            </a:r>
            <a:r>
              <a:rPr lang="vi-VN" b="1" smtClean="0"/>
              <a:t>Wi-Fi và HTTP/REST API</a:t>
            </a:r>
            <a:r>
              <a:rPr lang="vi-VN" smtClean="0"/>
              <a:t>.</a:t>
            </a:r>
          </a:p>
          <a:p>
            <a:r>
              <a:rPr lang="vi-VN" smtClean="0"/>
              <a:t>Toàn bộ quá trình ra vào và tính phí được </a:t>
            </a:r>
            <a:r>
              <a:rPr lang="vi-VN" b="1" smtClean="0"/>
              <a:t>tự động hóa hoàn toàn</a:t>
            </a:r>
            <a:r>
              <a:rPr lang="vi-VN" smtClean="0"/>
              <a:t>, giúp tăng độ chính xác và giảm chi phí vận hành.</a:t>
            </a:r>
            <a:endParaRPr lang="vi-VN"/>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4</a:t>
            </a:fld>
            <a:endParaRPr lang="en-US"/>
          </a:p>
        </p:txBody>
      </p:sp>
    </p:spTree>
    <p:extLst>
      <p:ext uri="{BB962C8B-B14F-4D97-AF65-F5344CB8AC3E}">
        <p14:creationId xmlns:p14="http://schemas.microsoft.com/office/powerpoint/2010/main" val="466684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Nhà giữ xe thông minh của chúng tôi có những tính năng chính sau:</a:t>
            </a:r>
          </a:p>
          <a:p>
            <a:r>
              <a:rPr lang="vi-VN" b="1" smtClean="0"/>
              <a:t>Tự động ra/vào với RFID:</a:t>
            </a:r>
            <a:r>
              <a:rPr lang="vi-VN" smtClean="0"/>
              <a:t> Hệ thống nhận dạng thẻ tự động, mở cổng và hiển thị thông tin phương tiện.</a:t>
            </a:r>
          </a:p>
          <a:p>
            <a:r>
              <a:rPr lang="vi-VN" b="1" smtClean="0"/>
              <a:t>Tính phí thông minh:</a:t>
            </a:r>
            <a:r>
              <a:rPr lang="vi-VN" smtClean="0"/>
              <a:t> Tính phí theo giờ cho khách vãng lai và theo thẻ</a:t>
            </a:r>
            <a:r>
              <a:rPr lang="en-US" baseline="0" smtClean="0"/>
              <a:t> miễn phí</a:t>
            </a:r>
            <a:r>
              <a:rPr lang="vi-VN" smtClean="0"/>
              <a:t> cho cư dân, đảm bảo minh bạch và chính xác.</a:t>
            </a:r>
          </a:p>
          <a:p>
            <a:r>
              <a:rPr lang="vi-VN" b="1" smtClean="0"/>
              <a:t>Lưu trữ &amp; phân tích lịch sử:</a:t>
            </a:r>
            <a:r>
              <a:rPr lang="vi-VN" smtClean="0"/>
              <a:t> Mọi lượt ra/vào đều được lưu lại, hỗ trợ quản lý và thống kê dài hạn.</a:t>
            </a:r>
          </a:p>
          <a:p>
            <a:r>
              <a:rPr lang="vi-VN" b="1" smtClean="0"/>
              <a:t>Cảnh báo thẻ không hợp lệ:</a:t>
            </a:r>
            <a:r>
              <a:rPr lang="vi-VN" smtClean="0"/>
              <a:t> Hệ thống phát hiện thẻ lạ, tăng tính bảo mật từ xa dễ dàng, theo dõi dữ liệu và báo cáo theo thời gian </a:t>
            </a:r>
            <a:r>
              <a:rPr lang="en-US" smtClean="0"/>
              <a:t>c</a:t>
            </a:r>
            <a:r>
              <a:rPr lang="vi-VN" smtClean="0"/>
              <a:t>ho bãi xe.</a:t>
            </a:r>
          </a:p>
          <a:p>
            <a:r>
              <a:rPr lang="vi-VN" b="1" smtClean="0"/>
              <a:t>Giao diện web trực quan:</a:t>
            </a:r>
            <a:r>
              <a:rPr lang="vi-VN" smtClean="0"/>
              <a:t> Quản lý thực.</a:t>
            </a:r>
          </a:p>
          <a:p>
            <a:r>
              <a:rPr lang="vi-VN" b="1" smtClean="0"/>
              <a:t>Nhận dạng biển số xe:</a:t>
            </a:r>
            <a:r>
              <a:rPr lang="vi-VN" smtClean="0"/>
              <a:t> Sử dụng OCR kết hợp YOLO để tự động nhận diện và lưu hình ảnh phương tiện.”</a:t>
            </a:r>
          </a:p>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5</a:t>
            </a:fld>
            <a:endParaRPr lang="en-US"/>
          </a:p>
        </p:txBody>
      </p:sp>
    </p:spTree>
    <p:extLst>
      <p:ext uri="{BB962C8B-B14F-4D97-AF65-F5344CB8AC3E}">
        <p14:creationId xmlns:p14="http://schemas.microsoft.com/office/powerpoint/2010/main" val="2124781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“Chúng ta so sánh phương pháp truyền thống với hệ thống đề tài:</a:t>
            </a:r>
          </a:p>
          <a:p>
            <a:r>
              <a:rPr lang="vi-VN" b="1" smtClean="0"/>
              <a:t>Identification – Nhận diện:</a:t>
            </a:r>
            <a:r>
              <a:rPr lang="vi-VN" smtClean="0"/>
              <a:t> Truyền thống dùng </a:t>
            </a:r>
            <a:r>
              <a:rPr lang="vi-VN" b="1" smtClean="0"/>
              <a:t>vé giấy</a:t>
            </a:r>
            <a:r>
              <a:rPr lang="vi-VN" smtClean="0"/>
              <a:t>, còn hệ thống của chúng tôi dùng </a:t>
            </a:r>
            <a:r>
              <a:rPr lang="vi-VN" b="1" smtClean="0"/>
              <a:t>RFID</a:t>
            </a:r>
            <a:r>
              <a:rPr lang="vi-VN" smtClean="0"/>
              <a:t>, nhanh và tiện lợi.</a:t>
            </a:r>
          </a:p>
          <a:p>
            <a:r>
              <a:rPr lang="vi-VN" b="1" smtClean="0"/>
              <a:t>Processing Speed – Tốc độ:</a:t>
            </a:r>
            <a:r>
              <a:rPr lang="vi-VN" smtClean="0"/>
              <a:t> Phương pháp cũ </a:t>
            </a:r>
            <a:r>
              <a:rPr lang="vi-VN" b="1" smtClean="0"/>
              <a:t>chậm</a:t>
            </a:r>
            <a:r>
              <a:rPr lang="vi-VN" smtClean="0"/>
              <a:t>, trong khi hệ thống đề tài hoạt động </a:t>
            </a:r>
            <a:r>
              <a:rPr lang="vi-VN" b="1" smtClean="0"/>
              <a:t>nhanh</a:t>
            </a:r>
            <a:r>
              <a:rPr lang="vi-VN" smtClean="0"/>
              <a:t>, xử lý tức thời.</a:t>
            </a:r>
          </a:p>
          <a:p>
            <a:r>
              <a:rPr lang="vi-VN" b="1" smtClean="0"/>
              <a:t>Error Rate – Sai sót:</a:t>
            </a:r>
            <a:r>
              <a:rPr lang="vi-VN" smtClean="0"/>
              <a:t> Truyền thống dễ xảy ra </a:t>
            </a:r>
            <a:r>
              <a:rPr lang="vi-VN" b="1" smtClean="0"/>
              <a:t>lỗi cao</a:t>
            </a:r>
            <a:r>
              <a:rPr lang="vi-VN" smtClean="0"/>
              <a:t>, còn hệ thống thông minh giúp </a:t>
            </a:r>
            <a:r>
              <a:rPr lang="vi-VN" b="1" smtClean="0"/>
              <a:t>giảm sai sót đáng kể</a:t>
            </a:r>
            <a:r>
              <a:rPr lang="vi-VN" smtClean="0"/>
              <a:t>.</a:t>
            </a:r>
          </a:p>
          <a:p>
            <a:r>
              <a:rPr lang="vi-VN" b="1" smtClean="0"/>
              <a:t>Data Statistics – Thống kê:</a:t>
            </a:r>
            <a:r>
              <a:rPr lang="vi-VN" smtClean="0"/>
              <a:t> Truyền thống làm </a:t>
            </a:r>
            <a:r>
              <a:rPr lang="vi-VN" b="1" smtClean="0"/>
              <a:t>thủ công</a:t>
            </a:r>
            <a:r>
              <a:rPr lang="vi-VN" smtClean="0"/>
              <a:t>, còn hệ thống </a:t>
            </a:r>
            <a:r>
              <a:rPr lang="vi-VN" b="1" smtClean="0"/>
              <a:t>tự động lưu trữ và phân tích dữ liệu</a:t>
            </a:r>
            <a:r>
              <a:rPr lang="vi-VN" smtClean="0"/>
              <a:t>, hỗ trợ quản lý chính xác.”</a:t>
            </a:r>
          </a:p>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6</a:t>
            </a:fld>
            <a:endParaRPr lang="en-US"/>
          </a:p>
        </p:txBody>
      </p:sp>
    </p:spTree>
    <p:extLst>
      <p:ext uri="{BB962C8B-B14F-4D97-AF65-F5344CB8AC3E}">
        <p14:creationId xmlns:p14="http://schemas.microsoft.com/office/powerpoint/2010/main" val="3570306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a:t>
            </a:r>
            <a:r>
              <a:rPr lang="vi-VN" b="1" smtClean="0"/>
              <a:t>tự động hóa cao</a:t>
            </a:r>
            <a:r>
              <a:rPr lang="vi-VN" smtClean="0"/>
              <a:t>, giúp giảm chi phí nhân công.</a:t>
            </a:r>
          </a:p>
          <a:p>
            <a:r>
              <a:rPr lang="vi-VN" b="1" smtClean="0"/>
              <a:t>Xác thực nhanh chóng và chính xác</a:t>
            </a:r>
            <a:r>
              <a:rPr lang="vi-VN" smtClean="0"/>
              <a:t> bằng RFID.</a:t>
            </a:r>
          </a:p>
          <a:p>
            <a:r>
              <a:rPr lang="vi-VN" b="1" smtClean="0"/>
              <a:t>Quản lý dữ liệu tập trung qua web</a:t>
            </a:r>
            <a:r>
              <a:rPr lang="vi-VN" smtClean="0"/>
              <a:t>, thuận tiện cho giám sát và thống kê.</a:t>
            </a:r>
          </a:p>
          <a:p>
            <a:r>
              <a:rPr lang="vi-VN" b="1" smtClean="0"/>
              <a:t>Dễ dàng mở rộng</a:t>
            </a:r>
            <a:r>
              <a:rPr lang="vi-VN" smtClean="0"/>
              <a:t>, có thể tích hợp nhận dạng biển số xe bằng AI và IoT.</a:t>
            </a:r>
          </a:p>
          <a:p>
            <a:r>
              <a:rPr lang="vi-VN" b="1" smtClean="0"/>
              <a:t>Chi phí thấp</a:t>
            </a:r>
            <a:r>
              <a:rPr lang="vi-VN" smtClean="0"/>
              <a:t>, linh kiện dễ tìm và thay thế.</a:t>
            </a:r>
          </a:p>
          <a:p>
            <a:r>
              <a:rPr lang="vi-VN" b="1" smtClean="0"/>
              <a:t>Điểm yếu của hệ thống</a:t>
            </a:r>
            <a:r>
              <a:rPr lang="vi-VN" smtClean="0"/>
              <a:t>:</a:t>
            </a:r>
          </a:p>
          <a:p>
            <a:r>
              <a:rPr lang="vi-VN" b="1" smtClean="0"/>
              <a:t>Camera dễ bị ảnh hưởng</a:t>
            </a:r>
            <a:r>
              <a:rPr lang="vi-VN" smtClean="0"/>
              <a:t> bởi các yếu tố môi trường như ánh sáng hay thời tiết.</a:t>
            </a:r>
          </a:p>
          <a:p>
            <a:r>
              <a:rPr lang="vi-VN" b="1" smtClean="0"/>
              <a:t>Phạm vi đọc RFID ngắn</a:t>
            </a:r>
            <a:r>
              <a:rPr lang="vi-VN" smtClean="0"/>
              <a:t> (dưới 5 cm), cần gần để nhận diện.</a:t>
            </a:r>
          </a:p>
          <a:p>
            <a:r>
              <a:rPr lang="vi-VN" b="1" smtClean="0"/>
              <a:t>Phụ thuộc vào mạng WiFi</a:t>
            </a:r>
            <a:r>
              <a:rPr lang="vi-VN" smtClean="0"/>
              <a:t>, mất kết nối có thể gián đoạn hoạt động.</a:t>
            </a:r>
          </a:p>
          <a:p>
            <a:r>
              <a:rPr lang="vi-VN" b="1" smtClean="0"/>
              <a:t>Yêu cầu kỹ thuật để bảo trì</a:t>
            </a:r>
            <a:r>
              <a:rPr lang="vi-VN" smtClean="0"/>
              <a:t>, cần người có chuyên môn hỗ trợ.”</a:t>
            </a: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vi-VN" b="1" smtClean="0"/>
              <a:t>Tự động thiết lập lại</a:t>
            </a:r>
            <a:r>
              <a:rPr lang="vi-VN" smtClean="0"/>
              <a:t> khi mất điện</a:t>
            </a:r>
          </a:p>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7</a:t>
            </a:fld>
            <a:endParaRPr lang="en-US"/>
          </a:p>
        </p:txBody>
      </p:sp>
    </p:spTree>
    <p:extLst>
      <p:ext uri="{BB962C8B-B14F-4D97-AF65-F5344CB8AC3E}">
        <p14:creationId xmlns:p14="http://schemas.microsoft.com/office/powerpoint/2010/main" val="796843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mtClean="0"/>
              <a:t>Hệ thống được chia thành bốn khối chính.</a:t>
            </a:r>
            <a:br>
              <a:rPr lang="vi-VN" smtClean="0"/>
            </a:br>
            <a:r>
              <a:rPr lang="vi-VN" smtClean="0"/>
              <a:t>Khối đầu vào gồm RFID RC522 và camera, dùng để nhận dạng phương tiện.</a:t>
            </a:r>
            <a:br>
              <a:rPr lang="vi-VN" smtClean="0"/>
            </a:br>
            <a:r>
              <a:rPr lang="vi-VN" smtClean="0"/>
              <a:t>Dữ liệu sau đó được xử lý tại khối trung tâm là ESP32.</a:t>
            </a:r>
            <a:br>
              <a:rPr lang="vi-VN" smtClean="0"/>
            </a:br>
            <a:r>
              <a:rPr lang="vi-VN" smtClean="0"/>
              <a:t>Thông tin được gửi lên máy chủ và lưu trữ trong cơ sở dữ liệu thông qua web server sử dụng XAMPP.</a:t>
            </a:r>
            <a:br>
              <a:rPr lang="vi-VN" smtClean="0"/>
            </a:br>
            <a:r>
              <a:rPr lang="vi-VN" smtClean="0"/>
              <a:t>Cuối cùng, khối đầu ra gồm barrier, màn hình LCD hoặc website và buzzer để hiển thị thông tin và điều khiển hệ thống.</a:t>
            </a:r>
            <a:br>
              <a:rPr lang="vi-VN" smtClean="0"/>
            </a:br>
            <a:r>
              <a:rPr lang="vi-VN" smtClean="0"/>
              <a:t>Các khối này được liên kết chặt chẽ, tạo thành một hệ thống hoàn chỉnh từ nhận dạng đến lưu trữ và hiển thị dữ liệu.</a:t>
            </a:r>
            <a:endParaRPr lang="en-US" smtClean="0"/>
          </a:p>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9057ECC-F463-4F90-8C57-DC1E0BC56B44}" type="slidenum">
              <a:rPr lang="en-US" smtClean="0"/>
              <a:t>10</a:t>
            </a:fld>
            <a:endParaRPr lang="en-US"/>
          </a:p>
        </p:txBody>
      </p:sp>
    </p:spTree>
    <p:extLst>
      <p:ext uri="{BB962C8B-B14F-4D97-AF65-F5344CB8AC3E}">
        <p14:creationId xmlns:p14="http://schemas.microsoft.com/office/powerpoint/2010/main" val="1858804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438400"/>
            <a:ext cx="10360501" cy="1162051"/>
          </a:xfrm>
        </p:spPr>
        <p:txBody>
          <a:bodyPr/>
          <a:lstStyle>
            <a:lvl1pPr algn="ctr">
              <a:defRPr sz="5400">
                <a:solidFill>
                  <a:srgbClr val="3760AA"/>
                </a:solidFill>
              </a:defRPr>
            </a:lvl1pPr>
          </a:lstStyle>
          <a:p>
            <a:r>
              <a:rPr lang="en-US"/>
              <a:t>Click to edit Master title style</a:t>
            </a:r>
          </a:p>
        </p:txBody>
      </p:sp>
      <p:sp>
        <p:nvSpPr>
          <p:cNvPr id="3" name="Subtitle 2"/>
          <p:cNvSpPr>
            <a:spLocks noGrp="1"/>
          </p:cNvSpPr>
          <p:nvPr>
            <p:ph type="subTitle" idx="1"/>
          </p:nvPr>
        </p:nvSpPr>
        <p:spPr>
          <a:xfrm>
            <a:off x="1828324" y="3581400"/>
            <a:ext cx="8532178" cy="685800"/>
          </a:xfrm>
        </p:spPr>
        <p:txBody>
          <a:bodyPr>
            <a:normAutofit/>
          </a:bodyPr>
          <a:lstStyle>
            <a:lvl1pPr marL="0" indent="0" algn="ctr">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5050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2040" y="122238"/>
            <a:ext cx="9523572" cy="334962"/>
          </a:xfrm>
        </p:spPr>
        <p:txBody>
          <a:bodyPr/>
          <a:lstStyle>
            <a:lvl1pPr>
              <a:defRPr>
                <a:sym typeface="Wingdings"/>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3760AA"/>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Artificial Intelligence</a:t>
            </a:r>
          </a:p>
        </p:txBody>
      </p:sp>
      <p:sp>
        <p:nvSpPr>
          <p:cNvPr id="6" name="Slide Number Placeholder 5"/>
          <p:cNvSpPr>
            <a:spLocks noGrp="1"/>
          </p:cNvSpPr>
          <p:nvPr>
            <p:ph type="sldNum" sz="quarter" idx="12"/>
          </p:nvPr>
        </p:nvSpPr>
        <p:spPr/>
        <p:txBody>
          <a:bodyPr/>
          <a:lstStyle/>
          <a:p>
            <a:fld id="{20A7A832-6730-4971-A5D3-FA5C81A3095C}" type="slidenum">
              <a:rPr lang="en-US" smtClean="0"/>
              <a:t>‹#›</a:t>
            </a:fld>
            <a:endParaRPr lang="en-US"/>
          </a:p>
        </p:txBody>
      </p:sp>
    </p:spTree>
    <p:extLst>
      <p:ext uri="{BB962C8B-B14F-4D97-AF65-F5344CB8AC3E}">
        <p14:creationId xmlns:p14="http://schemas.microsoft.com/office/powerpoint/2010/main" val="51937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1812" y="2819400"/>
            <a:ext cx="10969943" cy="1143000"/>
          </a:xfrm>
        </p:spPr>
        <p:txBody>
          <a:bodyPr/>
          <a:lstStyle>
            <a:lvl1pPr algn="ctr">
              <a:defRPr sz="4800">
                <a:solidFill>
                  <a:schemeClr val="accent1">
                    <a:lumMod val="75000"/>
                  </a:schemeClr>
                </a:solidFill>
              </a:defRPr>
            </a:lvl1pPr>
          </a:lstStyle>
          <a:p>
            <a:r>
              <a:rPr lang="en-US"/>
              <a:t>Click to edit Master title style</a:t>
            </a:r>
          </a:p>
        </p:txBody>
      </p:sp>
      <p:sp>
        <p:nvSpPr>
          <p:cNvPr id="4" name="Footer Placeholder 3"/>
          <p:cNvSpPr>
            <a:spLocks noGrp="1"/>
          </p:cNvSpPr>
          <p:nvPr>
            <p:ph type="ftr" sz="quarter" idx="11"/>
          </p:nvPr>
        </p:nvSpPr>
        <p:spPr/>
        <p:txBody>
          <a:bodyPr/>
          <a:lstStyle/>
          <a:p>
            <a:r>
              <a:rPr lang="en-US"/>
              <a:t>Artificial Intelligence</a:t>
            </a:r>
          </a:p>
        </p:txBody>
      </p:sp>
      <p:sp>
        <p:nvSpPr>
          <p:cNvPr id="5" name="Slide Number Placeholder 4"/>
          <p:cNvSpPr>
            <a:spLocks noGrp="1"/>
          </p:cNvSpPr>
          <p:nvPr>
            <p:ph type="sldNum" sz="quarter" idx="12"/>
          </p:nvPr>
        </p:nvSpPr>
        <p:spPr/>
        <p:txBody>
          <a:bodyPr/>
          <a:lstStyle/>
          <a:p>
            <a:fld id="{20A7A832-6730-4971-A5D3-FA5C81A3095C}" type="slidenum">
              <a:rPr lang="en-US" smtClean="0"/>
              <a:t>‹#›</a:t>
            </a:fld>
            <a:endParaRPr lang="en-US"/>
          </a:p>
        </p:txBody>
      </p:sp>
    </p:spTree>
    <p:extLst>
      <p:ext uri="{BB962C8B-B14F-4D97-AF65-F5344CB8AC3E}">
        <p14:creationId xmlns:p14="http://schemas.microsoft.com/office/powerpoint/2010/main" val="4026636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9640" y="122238"/>
            <a:ext cx="9523572" cy="334962"/>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684212" y="609600"/>
            <a:ext cx="10972800" cy="58673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177217" y="6525149"/>
            <a:ext cx="3859795" cy="365125"/>
          </a:xfrm>
          <a:prstGeom prst="rect">
            <a:avLst/>
          </a:prstGeom>
        </p:spPr>
        <p:txBody>
          <a:bodyPr vert="horz" lIns="91440" tIns="45720" rIns="91440" bIns="45720" rtlCol="0" anchor="ctr"/>
          <a:lstStyle>
            <a:lvl1pPr algn="l">
              <a:defRPr sz="1200" b="1">
                <a:solidFill>
                  <a:schemeClr val="bg1"/>
                </a:solidFill>
              </a:defRPr>
            </a:lvl1pPr>
          </a:lstStyle>
          <a:p>
            <a:r>
              <a:rPr lang="en-US"/>
              <a:t>Artificial Intelligence</a:t>
            </a:r>
          </a:p>
        </p:txBody>
      </p:sp>
      <p:sp>
        <p:nvSpPr>
          <p:cNvPr id="6" name="Slide Number Placeholder 5"/>
          <p:cNvSpPr>
            <a:spLocks noGrp="1"/>
          </p:cNvSpPr>
          <p:nvPr>
            <p:ph type="sldNum" sz="quarter" idx="4"/>
          </p:nvPr>
        </p:nvSpPr>
        <p:spPr>
          <a:xfrm>
            <a:off x="11276012" y="6542442"/>
            <a:ext cx="533400" cy="320676"/>
          </a:xfrm>
          <a:prstGeom prst="rect">
            <a:avLst/>
          </a:prstGeom>
        </p:spPr>
        <p:txBody>
          <a:bodyPr vert="horz" lIns="91440" tIns="45720" rIns="91440" bIns="45720" rtlCol="0" anchor="ctr"/>
          <a:lstStyle>
            <a:lvl1pPr algn="r">
              <a:defRPr sz="1200" b="1">
                <a:solidFill>
                  <a:schemeClr val="bg1"/>
                </a:solidFill>
              </a:defRPr>
            </a:lvl1pPr>
          </a:lstStyle>
          <a:p>
            <a:fld id="{20A7A832-6730-4971-A5D3-FA5C81A3095C}" type="slidenum">
              <a:rPr lang="en-US" smtClean="0"/>
              <a:pPr/>
              <a:t>‹#›</a:t>
            </a:fld>
            <a:endParaRPr lang="en-US"/>
          </a:p>
        </p:txBody>
      </p:sp>
    </p:spTree>
    <p:extLst>
      <p:ext uri="{BB962C8B-B14F-4D97-AF65-F5344CB8AC3E}">
        <p14:creationId xmlns:p14="http://schemas.microsoft.com/office/powerpoint/2010/main" val="4173094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hf hdr="0" dt="0"/>
  <p:txStyles>
    <p:titleStyle>
      <a:lvl1pPr algn="r" defTabSz="914400" rtl="0" eaLnBrk="1" latinLnBrk="0" hangingPunct="1">
        <a:spcBef>
          <a:spcPct val="0"/>
        </a:spcBef>
        <a:buNone/>
        <a:defRPr sz="3000" b="1" kern="1200">
          <a:solidFill>
            <a:srgbClr val="3760AA"/>
          </a:solidFill>
          <a:effectLst>
            <a:outerShdw blurRad="38100" dist="38100" dir="2700000" algn="tl">
              <a:srgbClr val="000000">
                <a:alpha val="43137"/>
              </a:srgbClr>
            </a:outerShdw>
          </a:effectLst>
          <a:latin typeface="+mj-lt"/>
          <a:ea typeface="+mj-ea"/>
          <a:cs typeface="+mj-cs"/>
        </a:defRPr>
      </a:lvl1pPr>
    </p:titleStyle>
    <p:bodyStyle>
      <a:lvl1pPr marL="225425" indent="-225425" algn="l" defTabSz="914400" rtl="0" eaLnBrk="1" latinLnBrk="0" hangingPunct="1">
        <a:spcBef>
          <a:spcPct val="20000"/>
        </a:spcBef>
        <a:buFont typeface="Arial" pitchFamily="34" charset="0"/>
        <a:buChar char="•"/>
        <a:defRPr sz="2800" b="1" kern="1200">
          <a:solidFill>
            <a:schemeClr val="accent1">
              <a:lumMod val="75000"/>
            </a:schemeClr>
          </a:solidFill>
          <a:latin typeface="+mn-lt"/>
          <a:ea typeface="+mn-ea"/>
          <a:cs typeface="+mn-cs"/>
        </a:defRPr>
      </a:lvl1pPr>
      <a:lvl2pPr marL="688975" indent="-231775" algn="l" defTabSz="914400" rtl="0" eaLnBrk="1" latinLnBrk="0" hangingPunct="1">
        <a:spcBef>
          <a:spcPct val="20000"/>
        </a:spcBef>
        <a:buClr>
          <a:srgbClr val="C00000"/>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rgbClr val="0070C0"/>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ct val="20000"/>
        </a:spcBef>
        <a:buClr>
          <a:srgbClr val="FF0000"/>
        </a:buClr>
        <a:buFont typeface="Arial"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32498" y="1976269"/>
            <a:ext cx="5752425" cy="430600"/>
          </a:xfrm>
        </p:spPr>
        <p:txBody>
          <a:bodyPr/>
          <a:lstStyle/>
          <a:p>
            <a:r>
              <a:rPr lang="en-US" sz="1800">
                <a:latin typeface="Times New Roman" panose="02020603050405020304" pitchFamily="18" charset="0"/>
                <a:cs typeface="Times New Roman" panose="02020603050405020304" pitchFamily="18" charset="0"/>
              </a:rPr>
              <a:t>FACULTY OF COMPUTER ENGINEERING AND ELECTRONICS</a:t>
            </a:r>
            <a:endParaRPr lang="en-US"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51012" y="6019800"/>
            <a:ext cx="8532178" cy="533400"/>
          </a:xfrm>
        </p:spPr>
        <p:txBody>
          <a:bodyPr>
            <a:normAutofit/>
          </a:bodyPr>
          <a:lstStyle/>
          <a:p>
            <a:r>
              <a:rPr lang="en-US" sz="2000" smtClean="0">
                <a:latin typeface="Times New Roman" panose="02020603050405020304" pitchFamily="18" charset="0"/>
                <a:cs typeface="Times New Roman" panose="02020603050405020304" pitchFamily="18" charset="0"/>
              </a:rPr>
              <a:t>Da Nang, 11 tháng </a:t>
            </a:r>
            <a:r>
              <a:rPr lang="en-US" sz="2000" dirty="0">
                <a:latin typeface="Times New Roman" panose="02020603050405020304" pitchFamily="18" charset="0"/>
                <a:cs typeface="Times New Roman" panose="02020603050405020304" pitchFamily="18" charset="0"/>
              </a:rPr>
              <a:t>1 </a:t>
            </a:r>
            <a:r>
              <a:rPr lang="en-US" sz="2000" err="1">
                <a:latin typeface="Times New Roman" panose="02020603050405020304" pitchFamily="18" charset="0"/>
                <a:cs typeface="Times New Roman" panose="02020603050405020304" pitchFamily="18" charset="0"/>
              </a:rPr>
              <a:t>năm</a:t>
            </a:r>
            <a:r>
              <a:rPr lang="en-US" sz="2000">
                <a:latin typeface="Times New Roman" panose="02020603050405020304" pitchFamily="18" charset="0"/>
                <a:cs typeface="Times New Roman" panose="02020603050405020304" pitchFamily="18" charset="0"/>
              </a:rPr>
              <a:t> </a:t>
            </a:r>
            <a:r>
              <a:rPr lang="en-US" sz="2000" smtClean="0">
                <a:latin typeface="Times New Roman" panose="02020603050405020304" pitchFamily="18" charset="0"/>
                <a:cs typeface="Times New Roman" panose="02020603050405020304" pitchFamily="18" charset="0"/>
              </a:rPr>
              <a:t>2026</a:t>
            </a:r>
            <a:endParaRPr lang="en-US" sz="2000" dirty="0">
              <a:latin typeface="Times New Roman" panose="02020603050405020304" pitchFamily="18" charset="0"/>
              <a:cs typeface="Times New Roman" panose="02020603050405020304" pitchFamily="18" charset="0"/>
            </a:endParaRPr>
          </a:p>
        </p:txBody>
      </p:sp>
      <p:sp>
        <p:nvSpPr>
          <p:cNvPr id="4" name="Footer Placeholder 4"/>
          <p:cNvSpPr txBox="1">
            <a:spLocks/>
          </p:cNvSpPr>
          <p:nvPr/>
        </p:nvSpPr>
        <p:spPr>
          <a:xfrm>
            <a:off x="3427410" y="1554036"/>
            <a:ext cx="5562600" cy="381000"/>
          </a:xfrm>
          <a:prstGeom prst="rect">
            <a:avLst/>
          </a:prstGeom>
        </p:spPr>
        <p:txBody>
          <a:bodyPr vert="horz" lIns="91440" tIns="45720" rIns="91440" bIns="45720" rtlCol="0" anchor="ctr"/>
          <a:lstStyle>
            <a:defPPr>
              <a:defRPr lang="en-US"/>
            </a:defPPr>
            <a:lvl1pPr marL="0" algn="ctr" defTabSz="914400" rtl="0" eaLnBrk="1" latinLnBrk="0" hangingPunct="1">
              <a:defRPr sz="2800" b="1"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err="1">
                <a:solidFill>
                  <a:srgbClr val="C00000"/>
                </a:solidFill>
                <a:latin typeface="Times New Roman" panose="02020603050405020304" pitchFamily="18" charset="0"/>
                <a:cs typeface="Times New Roman" panose="02020603050405020304" pitchFamily="18" charset="0"/>
              </a:rPr>
              <a:t>Nhân</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bản</a:t>
            </a:r>
            <a:r>
              <a:rPr lang="en-US" sz="2000" dirty="0">
                <a:solidFill>
                  <a:schemeClr val="accent1">
                    <a:lumMod val="75000"/>
                  </a:schemeClr>
                </a:solidFill>
                <a:latin typeface="Times New Roman" panose="02020603050405020304" pitchFamily="18" charset="0"/>
                <a:cs typeface="Times New Roman" panose="02020603050405020304" pitchFamily="18" charset="0"/>
              </a:rPr>
              <a:t> – </a:t>
            </a:r>
            <a:r>
              <a:rPr lang="en-US" sz="2000" dirty="0">
                <a:solidFill>
                  <a:srgbClr val="FFC000"/>
                </a:solidFill>
                <a:latin typeface="Times New Roman" panose="02020603050405020304" pitchFamily="18" charset="0"/>
                <a:cs typeface="Times New Roman" panose="02020603050405020304" pitchFamily="18" charset="0"/>
              </a:rPr>
              <a:t>Phụng </a:t>
            </a:r>
            <a:r>
              <a:rPr lang="en-US" sz="2000" dirty="0" err="1">
                <a:solidFill>
                  <a:srgbClr val="FFC000"/>
                </a:solidFill>
                <a:latin typeface="Times New Roman" panose="02020603050405020304" pitchFamily="18" charset="0"/>
                <a:cs typeface="Times New Roman" panose="02020603050405020304" pitchFamily="18" charset="0"/>
              </a:rPr>
              <a:t>sự</a:t>
            </a:r>
            <a:r>
              <a:rPr lang="en-US" sz="2000" dirty="0">
                <a:solidFill>
                  <a:schemeClr val="accent1">
                    <a:lumMod val="75000"/>
                  </a:schemeClr>
                </a:solidFill>
                <a:latin typeface="Times New Roman" panose="02020603050405020304" pitchFamily="18" charset="0"/>
                <a:cs typeface="Times New Roman" panose="02020603050405020304" pitchFamily="18" charset="0"/>
              </a:rPr>
              <a:t> – </a:t>
            </a:r>
            <a:r>
              <a:rPr lang="en-US" sz="2000" dirty="0">
                <a:solidFill>
                  <a:srgbClr val="002060"/>
                </a:solidFill>
                <a:latin typeface="Times New Roman" panose="02020603050405020304" pitchFamily="18" charset="0"/>
                <a:cs typeface="Times New Roman" panose="02020603050405020304" pitchFamily="18" charset="0"/>
              </a:rPr>
              <a:t>Khai </a:t>
            </a:r>
            <a:r>
              <a:rPr lang="en-US" sz="2000" dirty="0" err="1">
                <a:solidFill>
                  <a:srgbClr val="002060"/>
                </a:solidFill>
                <a:latin typeface="Times New Roman" panose="02020603050405020304" pitchFamily="18" charset="0"/>
                <a:cs typeface="Times New Roman" panose="02020603050405020304" pitchFamily="18" charset="0"/>
              </a:rPr>
              <a:t>phóng</a:t>
            </a:r>
            <a:endParaRPr lang="en-US" sz="20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B176845E-5B53-89E4-F108-B5D686BA7CB1}"/>
              </a:ext>
            </a:extLst>
          </p:cNvPr>
          <p:cNvSpPr txBox="1">
            <a:spLocks/>
          </p:cNvSpPr>
          <p:nvPr/>
        </p:nvSpPr>
        <p:spPr>
          <a:xfrm>
            <a:off x="989012" y="2357269"/>
            <a:ext cx="10360501" cy="838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5400" b="1" kern="1200">
                <a:solidFill>
                  <a:srgbClr val="3760AA"/>
                </a:solidFill>
                <a:effectLst>
                  <a:outerShdw blurRad="38100" dist="38100" dir="2700000" algn="tl">
                    <a:srgbClr val="000000">
                      <a:alpha val="43137"/>
                    </a:srgbClr>
                  </a:outerShdw>
                </a:effectLst>
                <a:latin typeface="+mj-lt"/>
                <a:ea typeface="+mj-ea"/>
                <a:cs typeface="+mj-cs"/>
              </a:defRPr>
            </a:lvl1pPr>
          </a:lstStyle>
          <a:p>
            <a:r>
              <a:rPr lang="en-US" sz="4800" smtClean="0">
                <a:solidFill>
                  <a:srgbClr val="C00000"/>
                </a:solidFill>
                <a:latin typeface="Times New Roman" panose="02020603050405020304" pitchFamily="18" charset="0"/>
                <a:cs typeface="Times New Roman" panose="02020603050405020304" pitchFamily="18" charset="0"/>
              </a:rPr>
              <a:t>GRADUATION THESIS</a:t>
            </a:r>
            <a:endParaRPr lang="en-US" sz="4800" dirty="0">
              <a:solidFill>
                <a:srgbClr val="C00000"/>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F8516D83-17AA-8F17-FC4A-683373B0B556}"/>
              </a:ext>
            </a:extLst>
          </p:cNvPr>
          <p:cNvSpPr txBox="1">
            <a:spLocks/>
          </p:cNvSpPr>
          <p:nvPr/>
        </p:nvSpPr>
        <p:spPr>
          <a:xfrm>
            <a:off x="989011" y="3202655"/>
            <a:ext cx="10360502" cy="88432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5400" b="1" kern="1200">
                <a:solidFill>
                  <a:srgbClr val="3760AA"/>
                </a:solidFill>
                <a:effectLst>
                  <a:outerShdw blurRad="38100" dist="38100" dir="2700000" algn="tl">
                    <a:srgbClr val="000000">
                      <a:alpha val="43137"/>
                    </a:srgbClr>
                  </a:outerShdw>
                </a:effectLst>
                <a:latin typeface="+mj-lt"/>
                <a:ea typeface="+mj-ea"/>
                <a:cs typeface="+mj-cs"/>
              </a:defRPr>
            </a:lvl1pPr>
          </a:lstStyle>
          <a:p>
            <a:r>
              <a:rPr lang="en-US" sz="2400">
                <a:latin typeface="Times New Roman" panose="02020603050405020304" pitchFamily="18" charset="0"/>
                <a:cs typeface="Times New Roman" panose="02020603050405020304" pitchFamily="18" charset="0"/>
              </a:rPr>
              <a:t>AN AI-ENABLED AUTOMATIC PARKING MANAGEMENT SYSTEM</a:t>
            </a:r>
          </a:p>
          <a:p>
            <a:r>
              <a:rPr lang="en-US" sz="2400">
                <a:latin typeface="Times New Roman" panose="02020603050405020304" pitchFamily="18" charset="0"/>
                <a:cs typeface="Times New Roman" panose="02020603050405020304" pitchFamily="18" charset="0"/>
              </a:rPr>
              <a:t>USING LICENSE PLATE RECOGNITION AND </a:t>
            </a:r>
            <a:r>
              <a:rPr lang="en-US" sz="2400" smtClean="0">
                <a:latin typeface="Times New Roman" panose="02020603050405020304" pitchFamily="18" charset="0"/>
                <a:cs typeface="Times New Roman" panose="02020603050405020304" pitchFamily="18" charset="0"/>
              </a:rPr>
              <a:t>RFID</a:t>
            </a:r>
            <a:endParaRPr lang="en-US"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2894012" y="4292208"/>
            <a:ext cx="8001000" cy="1200329"/>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Student Name: </a:t>
            </a:r>
            <a:r>
              <a:rPr lang="en-US" sz="2400" b="1">
                <a:latin typeface="Times New Roman" panose="02020603050405020304" pitchFamily="18" charset="0"/>
                <a:cs typeface="Times New Roman" panose="02020603050405020304" pitchFamily="18" charset="0"/>
              </a:rPr>
              <a:t>	</a:t>
            </a:r>
            <a:r>
              <a:rPr lang="en-US" sz="2400" b="1" smtClean="0">
                <a:latin typeface="Times New Roman" panose="02020603050405020304" pitchFamily="18" charset="0"/>
                <a:cs typeface="Times New Roman" panose="02020603050405020304" pitchFamily="18" charset="0"/>
              </a:rPr>
              <a:t>Truong Quoc Tu</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Student ID:</a:t>
            </a:r>
            <a:r>
              <a:rPr lang="en-US" sz="2400" b="1">
                <a:latin typeface="Times New Roman" panose="02020603050405020304" pitchFamily="18" charset="0"/>
                <a:cs typeface="Times New Roman" panose="02020603050405020304" pitchFamily="18" charset="0"/>
              </a:rPr>
              <a:t>	</a:t>
            </a:r>
            <a:r>
              <a:rPr lang="en-US" sz="2400" b="1" smtClean="0">
                <a:latin typeface="Times New Roman" panose="02020603050405020304" pitchFamily="18" charset="0"/>
                <a:cs typeface="Times New Roman" panose="02020603050405020304" pitchFamily="18" charset="0"/>
              </a:rPr>
              <a:t>	21CE123</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Supervisor: </a:t>
            </a:r>
            <a:r>
              <a:rPr lang="en-US" sz="2400" b="1">
                <a:latin typeface="Times New Roman" panose="02020603050405020304" pitchFamily="18" charset="0"/>
                <a:cs typeface="Times New Roman" panose="02020603050405020304" pitchFamily="18" charset="0"/>
              </a:rPr>
              <a:t>	</a:t>
            </a:r>
            <a:r>
              <a:rPr lang="en-US" sz="2400" b="1" smtClean="0">
                <a:latin typeface="Times New Roman" panose="02020603050405020304" pitchFamily="18" charset="0"/>
                <a:cs typeface="Times New Roman" panose="02020603050405020304" pitchFamily="18" charset="0"/>
              </a:rPr>
              <a:t>	</a:t>
            </a:r>
            <a:r>
              <a:rPr lang="vi-VN" sz="2400" b="1" smtClean="0">
                <a:latin typeface="Times New Roman" panose="02020603050405020304" pitchFamily="18" charset="0"/>
                <a:cs typeface="Times New Roman" panose="02020603050405020304" pitchFamily="18" charset="0"/>
              </a:rPr>
              <a:t>M.Sc</a:t>
            </a:r>
            <a:r>
              <a:rPr lang="vi-VN" sz="2400" b="1">
                <a:latin typeface="Times New Roman" panose="02020603050405020304" pitchFamily="18" charset="0"/>
                <a:cs typeface="Times New Roman" panose="02020603050405020304" pitchFamily="18" charset="0"/>
              </a:rPr>
              <a:t>. Nguyen Thi Huyen Tran</a:t>
            </a:r>
            <a:r>
              <a:rPr lang="en-US" sz="2400" b="1">
                <a:latin typeface="Times New Roman" panose="02020603050405020304" pitchFamily="18" charset="0"/>
                <a:cs typeface="Times New Roman" panose="02020603050405020304" pitchFamily="18" charset="0"/>
              </a:rPr>
              <a:t>g 	</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28671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1</a:t>
            </a:r>
            <a:r>
              <a:rPr lang="en-US" sz="3200" smtClean="0">
                <a:solidFill>
                  <a:srgbClr val="C00000"/>
                </a:solidFill>
                <a:effectLst/>
                <a:latin typeface="Times New Roman" panose="02020603050405020304" pitchFamily="18" charset="0"/>
                <a:cs typeface="Times New Roman" panose="02020603050405020304" pitchFamily="18" charset="0"/>
              </a:rPr>
              <a:t>. </a:t>
            </a:r>
            <a:r>
              <a:rPr lang="en-US" sz="3200">
                <a:solidFill>
                  <a:srgbClr val="C00000"/>
                </a:solidFill>
                <a:effectLst/>
                <a:latin typeface="Times New Roman" panose="02020603050405020304" pitchFamily="18" charset="0"/>
                <a:cs typeface="Times New Roman" panose="02020603050405020304" pitchFamily="18" charset="0"/>
              </a:rPr>
              <a:t>Reasons for Choosing the Topic</a:t>
            </a:r>
            <a:endParaRPr lang="vi-VN"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42612" y="6557190"/>
            <a:ext cx="1274480" cy="292975"/>
          </a:xfrm>
          <a:prstGeom prst="rect">
            <a:avLst/>
          </a:prstGeom>
        </p:spPr>
        <p:txBody>
          <a:bodyPr/>
          <a:lstStyle/>
          <a:p>
            <a:fld id="{4B6C3C4F-9159-40C9-88DB-2047BE0C5C26}"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latin typeface="Times New Roman" panose="02020603050405020304" pitchFamily="18" charset="0"/>
                <a:cs typeface="Times New Roman" panose="02020603050405020304" pitchFamily="18" charset="0"/>
              </a:rPr>
              <a:t>Faculty of Computer Science</a:t>
            </a:r>
          </a:p>
        </p:txBody>
      </p:sp>
      <p:sp>
        <p:nvSpPr>
          <p:cNvPr id="8" name="Rectangle 7"/>
          <p:cNvSpPr/>
          <p:nvPr/>
        </p:nvSpPr>
        <p:spPr>
          <a:xfrm>
            <a:off x="684212" y="1577619"/>
            <a:ext cx="5257801" cy="3859518"/>
          </a:xfrm>
          <a:prstGeom prst="rect">
            <a:avLst/>
          </a:prstGeom>
        </p:spPr>
        <p:txBody>
          <a:bodyPr wrap="square">
            <a:spAutoFit/>
          </a:bodyPr>
          <a:lstStyle/>
          <a:p>
            <a:pPr indent="457200">
              <a:lnSpc>
                <a:spcPct val="130000"/>
              </a:lnSpc>
              <a:spcBef>
                <a:spcPts val="600"/>
              </a:spcBef>
              <a:spcAft>
                <a:spcPts val="600"/>
              </a:spcAft>
            </a:pPr>
            <a:r>
              <a:rPr lang="en-US" b="1">
                <a:latin typeface="Times New Roman" panose="02020603050405020304" pitchFamily="18" charset="0"/>
                <a:cs typeface="Times New Roman" panose="02020603050405020304" pitchFamily="18" charset="0"/>
              </a:rPr>
              <a:t>Current Situation</a:t>
            </a:r>
          </a:p>
          <a:p>
            <a:pPr lvl="1"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 Increasing </a:t>
            </a:r>
            <a:r>
              <a:rPr lang="en-US">
                <a:latin typeface="Times New Roman" panose="02020603050405020304" pitchFamily="18" charset="0"/>
                <a:cs typeface="Times New Roman" panose="02020603050405020304" pitchFamily="18" charset="0"/>
              </a:rPr>
              <a:t>parking demand</a:t>
            </a:r>
          </a:p>
          <a:p>
            <a:pPr lvl="1"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 Manual </a:t>
            </a:r>
            <a:r>
              <a:rPr lang="en-US">
                <a:latin typeface="Times New Roman" panose="02020603050405020304" pitchFamily="18" charset="0"/>
                <a:cs typeface="Times New Roman" panose="02020603050405020304" pitchFamily="18" charset="0"/>
              </a:rPr>
              <a:t>parking management</a:t>
            </a:r>
          </a:p>
          <a:p>
            <a:pPr indent="457200">
              <a:lnSpc>
                <a:spcPct val="130000"/>
              </a:lnSpc>
              <a:spcBef>
                <a:spcPts val="600"/>
              </a:spcBef>
              <a:spcAft>
                <a:spcPts val="600"/>
              </a:spcAft>
            </a:pPr>
            <a:r>
              <a:rPr lang="en-US" b="1">
                <a:latin typeface="Times New Roman" panose="02020603050405020304" pitchFamily="18" charset="0"/>
                <a:cs typeface="Times New Roman" panose="02020603050405020304" pitchFamily="18" charset="0"/>
              </a:rPr>
              <a:t>Problems</a:t>
            </a:r>
          </a:p>
          <a:p>
            <a:pPr lvl="1"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 Errors </a:t>
            </a:r>
            <a:r>
              <a:rPr lang="en-US">
                <a:latin typeface="Times New Roman" panose="02020603050405020304" pitchFamily="18" charset="0"/>
                <a:cs typeface="Times New Roman" panose="02020603050405020304" pitchFamily="18" charset="0"/>
              </a:rPr>
              <a:t>and confusion</a:t>
            </a:r>
          </a:p>
          <a:p>
            <a:pPr lvl="1"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 Difficult </a:t>
            </a:r>
            <a:r>
              <a:rPr lang="en-US">
                <a:latin typeface="Times New Roman" panose="02020603050405020304" pitchFamily="18" charset="0"/>
                <a:cs typeface="Times New Roman" panose="02020603050405020304" pitchFamily="18" charset="0"/>
              </a:rPr>
              <a:t>data management</a:t>
            </a:r>
          </a:p>
          <a:p>
            <a:pPr lvl="1"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 Time-consuming </a:t>
            </a:r>
            <a:r>
              <a:rPr lang="en-US">
                <a:latin typeface="Times New Roman" panose="02020603050405020304" pitchFamily="18" charset="0"/>
                <a:cs typeface="Times New Roman" panose="02020603050405020304" pitchFamily="18" charset="0"/>
              </a:rPr>
              <a:t>process</a:t>
            </a:r>
          </a:p>
          <a:p>
            <a:endParaRPr lang="en-US" sz="1600">
              <a:latin typeface="Times New Roman" panose="02020603050405020304" pitchFamily="18" charset="0"/>
              <a:cs typeface="Times New Roman" panose="02020603050405020304" pitchFamily="18" charset="0"/>
            </a:endParaRPr>
          </a:p>
        </p:txBody>
      </p:sp>
      <p:sp>
        <p:nvSpPr>
          <p:cNvPr id="9" name="AutoShape 2" descr="Ám ảnh kẹt xe trước cổng trường: Vì sao không phân luồng giờ đón học sinh?  - Tuổi Trẻ Onlin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stretch>
            <a:fillRect/>
          </a:stretch>
        </p:blipFill>
        <p:spPr>
          <a:xfrm>
            <a:off x="6399212" y="1371600"/>
            <a:ext cx="5486400" cy="4017523"/>
          </a:xfrm>
          <a:prstGeom prst="rect">
            <a:avLst/>
          </a:prstGeom>
        </p:spPr>
      </p:pic>
    </p:spTree>
    <p:extLst>
      <p:ext uri="{BB962C8B-B14F-4D97-AF65-F5344CB8AC3E}">
        <p14:creationId xmlns:p14="http://schemas.microsoft.com/office/powerpoint/2010/main" val="33524398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2</a:t>
            </a:r>
            <a:r>
              <a:rPr lang="en-US" sz="3200" smtClean="0">
                <a:solidFill>
                  <a:srgbClr val="C00000"/>
                </a:solidFill>
                <a:effectLst/>
                <a:latin typeface="Times New Roman" panose="02020603050405020304" pitchFamily="18" charset="0"/>
                <a:cs typeface="Times New Roman" panose="02020603050405020304" pitchFamily="18" charset="0"/>
              </a:rPr>
              <a:t>. Project Goals</a:t>
            </a:r>
            <a:endParaRPr lang="en-US"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3</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sp>
        <p:nvSpPr>
          <p:cNvPr id="10" name="object 3"/>
          <p:cNvSpPr txBox="1"/>
          <p:nvPr/>
        </p:nvSpPr>
        <p:spPr>
          <a:xfrm>
            <a:off x="632076" y="1295400"/>
            <a:ext cx="6553200" cy="3015954"/>
          </a:xfrm>
          <a:prstGeom prst="rect">
            <a:avLst/>
          </a:prstGeom>
        </p:spPr>
        <p:txBody>
          <a:bodyPr vert="horz" wrap="square" lIns="0" tIns="85090" rIns="0" bIns="0" rtlCol="0">
            <a:spAutoFit/>
          </a:bodyPr>
          <a:lstStyle/>
          <a:p>
            <a:pPr indent="457200">
              <a:lnSpc>
                <a:spcPct val="130000"/>
              </a:lnSpc>
              <a:spcBef>
                <a:spcPts val="600"/>
              </a:spcBef>
              <a:spcAft>
                <a:spcPts val="600"/>
              </a:spcAft>
            </a:pPr>
            <a:r>
              <a:rPr lang="en-US" smtClean="0">
                <a:latin typeface="Times New Roman" panose="02020603050405020304" pitchFamily="18" charset="0"/>
                <a:cs typeface="Times New Roman" panose="02020603050405020304" pitchFamily="18" charset="0"/>
              </a:rPr>
              <a:t>The objective of this project is to develop a system capable of:</a:t>
            </a:r>
          </a:p>
          <a:p>
            <a:pPr marL="800100" lvl="1" indent="457200">
              <a:lnSpc>
                <a:spcPct val="130000"/>
              </a:lnSpc>
              <a:spcBef>
                <a:spcPts val="600"/>
              </a:spcBef>
              <a:spcAft>
                <a:spcPts val="600"/>
              </a:spcAft>
              <a:buFont typeface="+mj-lt"/>
              <a:buAutoNum type="arabicPeriod"/>
            </a:pPr>
            <a:r>
              <a:rPr lang="en-US">
                <a:latin typeface="Times New Roman" panose="02020603050405020304" pitchFamily="18" charset="0"/>
                <a:cs typeface="Times New Roman" panose="02020603050405020304" pitchFamily="18" charset="0"/>
              </a:rPr>
              <a:t>Vehicle identification using </a:t>
            </a:r>
            <a:r>
              <a:rPr lang="en-US" smtClean="0">
                <a:latin typeface="Times New Roman" panose="02020603050405020304" pitchFamily="18" charset="0"/>
                <a:cs typeface="Times New Roman" panose="02020603050405020304" pitchFamily="18" charset="0"/>
              </a:rPr>
              <a:t>RFID</a:t>
            </a:r>
          </a:p>
          <a:p>
            <a:pPr marL="800100" lvl="1" indent="457200">
              <a:lnSpc>
                <a:spcPct val="130000"/>
              </a:lnSpc>
              <a:spcBef>
                <a:spcPts val="600"/>
              </a:spcBef>
              <a:spcAft>
                <a:spcPts val="600"/>
              </a:spcAft>
              <a:buFont typeface="+mj-lt"/>
              <a:buAutoNum type="arabicPeriod"/>
            </a:pPr>
            <a:r>
              <a:rPr lang="en-US" smtClean="0">
                <a:latin typeface="Times New Roman" panose="02020603050405020304" pitchFamily="18" charset="0"/>
                <a:cs typeface="Times New Roman" panose="02020603050405020304" pitchFamily="18" charset="0"/>
              </a:rPr>
              <a:t>Automatic </a:t>
            </a:r>
            <a:r>
              <a:rPr lang="en-US">
                <a:latin typeface="Times New Roman" panose="02020603050405020304" pitchFamily="18" charset="0"/>
                <a:cs typeface="Times New Roman" panose="02020603050405020304" pitchFamily="18" charset="0"/>
              </a:rPr>
              <a:t>entry/exit </a:t>
            </a:r>
            <a:r>
              <a:rPr lang="en-US" smtClean="0">
                <a:latin typeface="Times New Roman" panose="02020603050405020304" pitchFamily="18" charset="0"/>
                <a:cs typeface="Times New Roman" panose="02020603050405020304" pitchFamily="18" charset="0"/>
              </a:rPr>
              <a:t>detection</a:t>
            </a:r>
          </a:p>
          <a:p>
            <a:pPr marL="800100" lvl="1" indent="457200">
              <a:lnSpc>
                <a:spcPct val="130000"/>
              </a:lnSpc>
              <a:spcBef>
                <a:spcPts val="600"/>
              </a:spcBef>
              <a:spcAft>
                <a:spcPts val="600"/>
              </a:spcAft>
              <a:buFont typeface="+mj-lt"/>
              <a:buAutoNum type="arabicPeriod"/>
            </a:pPr>
            <a:r>
              <a:rPr lang="en-US" smtClean="0">
                <a:latin typeface="Times New Roman" panose="02020603050405020304" pitchFamily="18" charset="0"/>
                <a:cs typeface="Times New Roman" panose="02020603050405020304" pitchFamily="18" charset="0"/>
              </a:rPr>
              <a:t>User </a:t>
            </a:r>
            <a:r>
              <a:rPr lang="en-US">
                <a:latin typeface="Times New Roman" panose="02020603050405020304" pitchFamily="18" charset="0"/>
                <a:cs typeface="Times New Roman" panose="02020603050405020304" pitchFamily="18" charset="0"/>
              </a:rPr>
              <a:t>classification: residents &amp; </a:t>
            </a:r>
            <a:r>
              <a:rPr lang="en-US" smtClean="0">
                <a:latin typeface="Times New Roman" panose="02020603050405020304" pitchFamily="18" charset="0"/>
                <a:cs typeface="Times New Roman" panose="02020603050405020304" pitchFamily="18" charset="0"/>
              </a:rPr>
              <a:t>visitors</a:t>
            </a:r>
          </a:p>
          <a:p>
            <a:pPr marL="800100" lvl="1" indent="457200">
              <a:lnSpc>
                <a:spcPct val="130000"/>
              </a:lnSpc>
              <a:spcBef>
                <a:spcPts val="600"/>
              </a:spcBef>
              <a:spcAft>
                <a:spcPts val="600"/>
              </a:spcAft>
              <a:buFont typeface="+mj-lt"/>
              <a:buAutoNum type="arabicPeriod"/>
            </a:pPr>
            <a:r>
              <a:rPr lang="en-US" smtClean="0">
                <a:latin typeface="Times New Roman" panose="02020603050405020304" pitchFamily="18" charset="0"/>
                <a:cs typeface="Times New Roman" panose="02020603050405020304" pitchFamily="18" charset="0"/>
              </a:rPr>
              <a:t>Centralized </a:t>
            </a:r>
            <a:r>
              <a:rPr lang="en-US">
                <a:latin typeface="Times New Roman" panose="02020603050405020304" pitchFamily="18" charset="0"/>
                <a:cs typeface="Times New Roman" panose="02020603050405020304" pitchFamily="18" charset="0"/>
              </a:rPr>
              <a:t>management via </a:t>
            </a:r>
            <a:r>
              <a:rPr lang="en-US" smtClean="0">
                <a:latin typeface="Times New Roman" panose="02020603050405020304" pitchFamily="18" charset="0"/>
                <a:cs typeface="Times New Roman" panose="02020603050405020304" pitchFamily="18" charset="0"/>
              </a:rPr>
              <a:t>website</a:t>
            </a:r>
          </a:p>
          <a:p>
            <a:pPr marL="800100" lvl="1" indent="457200">
              <a:lnSpc>
                <a:spcPct val="130000"/>
              </a:lnSpc>
              <a:spcBef>
                <a:spcPts val="600"/>
              </a:spcBef>
              <a:spcAft>
                <a:spcPts val="600"/>
              </a:spcAft>
              <a:buFont typeface="+mj-lt"/>
              <a:buAutoNum type="arabicPeriod"/>
            </a:pPr>
            <a:r>
              <a:rPr lang="en-US" smtClean="0">
                <a:latin typeface="Times New Roman" panose="02020603050405020304" pitchFamily="18" charset="0"/>
                <a:cs typeface="Times New Roman" panose="02020603050405020304" pitchFamily="18" charset="0"/>
              </a:rPr>
              <a:t>Stable</a:t>
            </a:r>
            <a:r>
              <a:rPr lang="en-US">
                <a:latin typeface="Times New Roman" panose="02020603050405020304" pitchFamily="18" charset="0"/>
                <a:cs typeface="Times New Roman" panose="02020603050405020304" pitchFamily="18" charset="0"/>
              </a:rPr>
              <a:t>, deployable, and scalable system</a:t>
            </a:r>
            <a:endParaRPr lang="vi-VN">
              <a:latin typeface="Times New Roman" panose="02020603050405020304" pitchFamily="18" charset="0"/>
              <a:cs typeface="Times New Roman" panose="02020603050405020304" pitchFamily="18" charset="0"/>
            </a:endParaRPr>
          </a:p>
        </p:txBody>
      </p:sp>
      <p:pic>
        <p:nvPicPr>
          <p:cNvPr id="11" name="Picture 10"/>
          <p:cNvPicPr/>
          <p:nvPr/>
        </p:nvPicPr>
        <p:blipFill>
          <a:blip r:embed="rId3">
            <a:extLst>
              <a:ext uri="{28A0092B-C50C-407E-A947-70E740481C1C}">
                <a14:useLocalDpi xmlns:a14="http://schemas.microsoft.com/office/drawing/2010/main" val="0"/>
              </a:ext>
            </a:extLst>
          </a:blip>
          <a:stretch>
            <a:fillRect/>
          </a:stretch>
        </p:blipFill>
        <p:spPr>
          <a:xfrm>
            <a:off x="7315200" y="1524001"/>
            <a:ext cx="4361180" cy="3048000"/>
          </a:xfrm>
          <a:prstGeom prst="rect">
            <a:avLst/>
          </a:prstGeom>
        </p:spPr>
      </p:pic>
    </p:spTree>
    <p:extLst>
      <p:ext uri="{BB962C8B-B14F-4D97-AF65-F5344CB8AC3E}">
        <p14:creationId xmlns:p14="http://schemas.microsoft.com/office/powerpoint/2010/main" val="1597381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3</a:t>
            </a:r>
            <a:r>
              <a:rPr lang="en-US" sz="3200" smtClean="0">
                <a:solidFill>
                  <a:srgbClr val="C00000"/>
                </a:solidFill>
                <a:effectLst/>
                <a:latin typeface="Times New Roman" panose="02020603050405020304" pitchFamily="18" charset="0"/>
                <a:cs typeface="Times New Roman" panose="02020603050405020304" pitchFamily="18" charset="0"/>
              </a:rPr>
              <a:t>. </a:t>
            </a:r>
            <a:r>
              <a:rPr lang="vi-VN" sz="3200">
                <a:solidFill>
                  <a:srgbClr val="C00000"/>
                </a:solidFill>
                <a:effectLst/>
                <a:cs typeface="Times New Roman" panose="02020603050405020304" pitchFamily="18" charset="0"/>
              </a:rPr>
              <a:t>FEATURES &amp; </a:t>
            </a:r>
            <a:r>
              <a:rPr lang="vi-VN" sz="3200" smtClean="0">
                <a:solidFill>
                  <a:srgbClr val="C00000"/>
                </a:solidFill>
                <a:effectLst/>
                <a:cs typeface="Times New Roman" panose="02020603050405020304" pitchFamily="18" charset="0"/>
              </a:rPr>
              <a:t>TECHNOLOGY</a:t>
            </a:r>
            <a:endParaRPr lang="en-US"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4</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sp>
        <p:nvSpPr>
          <p:cNvPr id="7" name="Rectangle 6"/>
          <p:cNvSpPr/>
          <p:nvPr/>
        </p:nvSpPr>
        <p:spPr>
          <a:xfrm>
            <a:off x="230187" y="1752600"/>
            <a:ext cx="6626225" cy="2985433"/>
          </a:xfrm>
          <a:prstGeom prst="rect">
            <a:avLst/>
          </a:prstGeom>
        </p:spPr>
        <p:txBody>
          <a:bodyPr wrap="square">
            <a:spAutoFit/>
          </a:bodyPr>
          <a:lstStyle/>
          <a:p>
            <a:r>
              <a:rPr lang="en-US" b="1">
                <a:latin typeface="Times New Roman" panose="02020603050405020304" pitchFamily="18" charset="0"/>
                <a:cs typeface="Times New Roman" panose="02020603050405020304" pitchFamily="18" charset="0"/>
              </a:rPr>
              <a:t>Technology Used</a:t>
            </a:r>
          </a:p>
          <a:p>
            <a:pPr marL="285750" indent="285750">
              <a:lnSpc>
                <a:spcPct val="15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Hardware</a:t>
            </a:r>
            <a:r>
              <a:rPr lang="en-US">
                <a:latin typeface="Times New Roman" panose="02020603050405020304" pitchFamily="18" charset="0"/>
                <a:cs typeface="Times New Roman" panose="02020603050405020304" pitchFamily="18" charset="0"/>
              </a:rPr>
              <a:t>: </a:t>
            </a:r>
            <a:r>
              <a:rPr lang="en-US" smtClean="0">
                <a:latin typeface="Times New Roman" panose="02020603050405020304" pitchFamily="18" charset="0"/>
                <a:cs typeface="Times New Roman" panose="02020603050405020304" pitchFamily="18" charset="0"/>
              </a:rPr>
              <a:t>ESP32</a:t>
            </a:r>
            <a:r>
              <a:rPr lang="en-US">
                <a:latin typeface="Times New Roman" panose="02020603050405020304" pitchFamily="18" charset="0"/>
                <a:cs typeface="Times New Roman" panose="02020603050405020304" pitchFamily="18" charset="0"/>
              </a:rPr>
              <a:t>, RFID RC522, Servo, LCD, Camera.</a:t>
            </a:r>
          </a:p>
          <a:p>
            <a:pPr marL="285750" indent="285750">
              <a:lnSpc>
                <a:spcPct val="15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Software</a:t>
            </a:r>
            <a:r>
              <a:rPr lang="en-US">
                <a:latin typeface="Times New Roman" panose="02020603050405020304" pitchFamily="18" charset="0"/>
                <a:cs typeface="Times New Roman" panose="02020603050405020304" pitchFamily="18" charset="0"/>
              </a:rPr>
              <a:t>: Arduino C/C++ for hardware control; Python for image processing; PHP/MySQL for data management.</a:t>
            </a:r>
          </a:p>
          <a:p>
            <a:pPr marL="285750" indent="285750">
              <a:lnSpc>
                <a:spcPct val="15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Network </a:t>
            </a:r>
            <a:r>
              <a:rPr lang="en-US">
                <a:latin typeface="Times New Roman" panose="02020603050405020304" pitchFamily="18" charset="0"/>
                <a:cs typeface="Times New Roman" panose="02020603050405020304" pitchFamily="18" charset="0"/>
              </a:rPr>
              <a:t>Communication: Wi-Fi and HTTP/REST API.</a:t>
            </a:r>
          </a:p>
          <a:p>
            <a:pPr marL="285750" indent="285750">
              <a:lnSpc>
                <a:spcPct val="150000"/>
              </a:lnSpc>
              <a:spcBef>
                <a:spcPts val="600"/>
              </a:spcBef>
              <a:spcAft>
                <a:spcPts val="600"/>
              </a:spcAft>
              <a:buFont typeface="Times New Roman" panose="02020603050405020304" pitchFamily="18" charset="0"/>
              <a:buChar char="‾"/>
            </a:pPr>
            <a:r>
              <a:rPr lang="en-US">
                <a:latin typeface="Times New Roman" panose="02020603050405020304" pitchFamily="18" charset="0"/>
                <a:cs typeface="Times New Roman" panose="02020603050405020304" pitchFamily="18" charset="0"/>
              </a:rPr>
              <a:t>The entire entry, exit, and billing process is fully automated..</a:t>
            </a:r>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6638187" y="1208665"/>
            <a:ext cx="5388559" cy="4440670"/>
          </a:xfrm>
          <a:prstGeom prst="rect">
            <a:avLst/>
          </a:prstGeom>
        </p:spPr>
      </p:pic>
    </p:spTree>
    <p:extLst>
      <p:ext uri="{BB962C8B-B14F-4D97-AF65-F5344CB8AC3E}">
        <p14:creationId xmlns:p14="http://schemas.microsoft.com/office/powerpoint/2010/main" val="978725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3</a:t>
            </a:r>
            <a:r>
              <a:rPr lang="en-US" sz="3200" smtClean="0">
                <a:solidFill>
                  <a:srgbClr val="C00000"/>
                </a:solidFill>
                <a:effectLst/>
                <a:latin typeface="Times New Roman" panose="02020603050405020304" pitchFamily="18" charset="0"/>
                <a:cs typeface="Times New Roman" panose="02020603050405020304" pitchFamily="18" charset="0"/>
              </a:rPr>
              <a:t>. </a:t>
            </a:r>
            <a:r>
              <a:rPr lang="vi-VN" sz="3200">
                <a:solidFill>
                  <a:srgbClr val="C00000"/>
                </a:solidFill>
                <a:effectLst/>
                <a:cs typeface="Times New Roman" panose="02020603050405020304" pitchFamily="18" charset="0"/>
              </a:rPr>
              <a:t>FEATURES &amp; OUTSTANDING TECHNOLOGY</a:t>
            </a:r>
            <a:endParaRPr lang="en-US"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5</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sp>
        <p:nvSpPr>
          <p:cNvPr id="7" name="Rectangle 6"/>
          <p:cNvSpPr/>
          <p:nvPr/>
        </p:nvSpPr>
        <p:spPr>
          <a:xfrm>
            <a:off x="275628" y="1447800"/>
            <a:ext cx="6092825" cy="3536353"/>
          </a:xfrm>
          <a:prstGeom prst="rect">
            <a:avLst/>
          </a:prstGeom>
        </p:spPr>
        <p:txBody>
          <a:bodyPr>
            <a:spAutoFit/>
          </a:bodyPr>
          <a:lstStyle/>
          <a:p>
            <a:pPr indent="457200">
              <a:lnSpc>
                <a:spcPct val="130000"/>
              </a:lnSpc>
              <a:spcBef>
                <a:spcPts val="600"/>
              </a:spcBef>
              <a:spcAft>
                <a:spcPts val="600"/>
              </a:spcAft>
            </a:pPr>
            <a:r>
              <a:rPr lang="en-US" b="1">
                <a:latin typeface="Times New Roman" panose="02020603050405020304" pitchFamily="18" charset="0"/>
                <a:cs typeface="Times New Roman" panose="02020603050405020304" pitchFamily="18" charset="0"/>
              </a:rPr>
              <a:t>Key Features</a:t>
            </a:r>
          </a:p>
          <a:p>
            <a:pPr marL="285750" indent="457200">
              <a:lnSpc>
                <a:spcPct val="130000"/>
              </a:lnSpc>
              <a:spcBef>
                <a:spcPts val="600"/>
              </a:spcBef>
              <a:spcAft>
                <a:spcPts val="600"/>
              </a:spcAft>
              <a:buFont typeface="Times New Roman" panose="02020603050405020304" pitchFamily="18" charset="0"/>
              <a:buChar char="‾"/>
            </a:pPr>
            <a:r>
              <a:rPr lang="en-US">
                <a:latin typeface="Times New Roman" panose="02020603050405020304" pitchFamily="18" charset="0"/>
                <a:cs typeface="Times New Roman" panose="02020603050405020304" pitchFamily="18" charset="0"/>
              </a:rPr>
              <a:t>Automatic entry/exit with </a:t>
            </a:r>
            <a:r>
              <a:rPr lang="en-US" smtClean="0">
                <a:latin typeface="Times New Roman" panose="02020603050405020304" pitchFamily="18" charset="0"/>
                <a:cs typeface="Times New Roman" panose="02020603050405020304" pitchFamily="18" charset="0"/>
              </a:rPr>
              <a:t>RFID</a:t>
            </a:r>
          </a:p>
          <a:p>
            <a:pPr marL="285750" indent="457200">
              <a:lnSpc>
                <a:spcPct val="13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Smart </a:t>
            </a:r>
            <a:r>
              <a:rPr lang="en-US">
                <a:latin typeface="Times New Roman" panose="02020603050405020304" pitchFamily="18" charset="0"/>
                <a:cs typeface="Times New Roman" panose="02020603050405020304" pitchFamily="18" charset="0"/>
              </a:rPr>
              <a:t>billing: hourly for guests, free card for </a:t>
            </a:r>
            <a:r>
              <a:rPr lang="en-US" smtClean="0">
                <a:latin typeface="Times New Roman" panose="02020603050405020304" pitchFamily="18" charset="0"/>
                <a:cs typeface="Times New Roman" panose="02020603050405020304" pitchFamily="18" charset="0"/>
              </a:rPr>
              <a:t>residents</a:t>
            </a:r>
          </a:p>
          <a:p>
            <a:pPr marL="285750" indent="457200">
              <a:lnSpc>
                <a:spcPct val="13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History </a:t>
            </a:r>
            <a:r>
              <a:rPr lang="en-US">
                <a:latin typeface="Times New Roman" panose="02020603050405020304" pitchFamily="18" charset="0"/>
                <a:cs typeface="Times New Roman" panose="02020603050405020304" pitchFamily="18" charset="0"/>
              </a:rPr>
              <a:t>tracking for </a:t>
            </a:r>
            <a:r>
              <a:rPr lang="en-US" smtClean="0">
                <a:latin typeface="Times New Roman" panose="02020603050405020304" pitchFamily="18" charset="0"/>
                <a:cs typeface="Times New Roman" panose="02020603050405020304" pitchFamily="18" charset="0"/>
              </a:rPr>
              <a:t>analysis</a:t>
            </a:r>
          </a:p>
          <a:p>
            <a:pPr marL="285750" indent="457200">
              <a:lnSpc>
                <a:spcPct val="13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Invalid </a:t>
            </a:r>
            <a:r>
              <a:rPr lang="en-US">
                <a:latin typeface="Times New Roman" panose="02020603050405020304" pitchFamily="18" charset="0"/>
                <a:cs typeface="Times New Roman" panose="02020603050405020304" pitchFamily="18" charset="0"/>
              </a:rPr>
              <a:t>card alerts for </a:t>
            </a:r>
            <a:r>
              <a:rPr lang="en-US" smtClean="0">
                <a:latin typeface="Times New Roman" panose="02020603050405020304" pitchFamily="18" charset="0"/>
                <a:cs typeface="Times New Roman" panose="02020603050405020304" pitchFamily="18" charset="0"/>
              </a:rPr>
              <a:t>security</a:t>
            </a:r>
          </a:p>
          <a:p>
            <a:pPr marL="285750" indent="457200">
              <a:lnSpc>
                <a:spcPct val="13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User-friendly </a:t>
            </a:r>
            <a:r>
              <a:rPr lang="en-US">
                <a:latin typeface="Times New Roman" panose="02020603050405020304" pitchFamily="18" charset="0"/>
                <a:cs typeface="Times New Roman" panose="02020603050405020304" pitchFamily="18" charset="0"/>
              </a:rPr>
              <a:t>web </a:t>
            </a:r>
            <a:r>
              <a:rPr lang="en-US" smtClean="0">
                <a:latin typeface="Times New Roman" panose="02020603050405020304" pitchFamily="18" charset="0"/>
                <a:cs typeface="Times New Roman" panose="02020603050405020304" pitchFamily="18" charset="0"/>
              </a:rPr>
              <a:t>interface</a:t>
            </a:r>
          </a:p>
          <a:p>
            <a:pPr marL="285750" indent="457200">
              <a:lnSpc>
                <a:spcPct val="130000"/>
              </a:lnSpc>
              <a:spcBef>
                <a:spcPts val="600"/>
              </a:spcBef>
              <a:spcAft>
                <a:spcPts val="600"/>
              </a:spcAft>
              <a:buFont typeface="Times New Roman" panose="02020603050405020304" pitchFamily="18" charset="0"/>
              <a:buChar char="‾"/>
            </a:pPr>
            <a:r>
              <a:rPr lang="en-US" smtClean="0">
                <a:latin typeface="Times New Roman" panose="02020603050405020304" pitchFamily="18" charset="0"/>
                <a:cs typeface="Times New Roman" panose="02020603050405020304" pitchFamily="18" charset="0"/>
              </a:rPr>
              <a:t>License </a:t>
            </a:r>
            <a:r>
              <a:rPr lang="en-US">
                <a:latin typeface="Times New Roman" panose="02020603050405020304" pitchFamily="18" charset="0"/>
                <a:cs typeface="Times New Roman" panose="02020603050405020304" pitchFamily="18" charset="0"/>
              </a:rPr>
              <a:t>plate recognition using OCR + YOLO”</a:t>
            </a:r>
          </a:p>
        </p:txBody>
      </p:sp>
      <p:pic>
        <p:nvPicPr>
          <p:cNvPr id="3" name="Picture 2"/>
          <p:cNvPicPr>
            <a:picLocks noChangeAspect="1"/>
          </p:cNvPicPr>
          <p:nvPr/>
        </p:nvPicPr>
        <p:blipFill>
          <a:blip r:embed="rId3"/>
          <a:stretch>
            <a:fillRect/>
          </a:stretch>
        </p:blipFill>
        <p:spPr>
          <a:xfrm>
            <a:off x="6358009" y="1447800"/>
            <a:ext cx="5634230" cy="3608743"/>
          </a:xfrm>
          <a:prstGeom prst="rect">
            <a:avLst/>
          </a:prstGeom>
        </p:spPr>
      </p:pic>
    </p:spTree>
    <p:extLst>
      <p:ext uri="{BB962C8B-B14F-4D97-AF65-F5344CB8AC3E}">
        <p14:creationId xmlns:p14="http://schemas.microsoft.com/office/powerpoint/2010/main" val="1500957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4</a:t>
            </a:r>
            <a:r>
              <a:rPr lang="en-US" sz="3200" smtClean="0">
                <a:solidFill>
                  <a:srgbClr val="C00000"/>
                </a:solidFill>
                <a:effectLst/>
                <a:latin typeface="Times New Roman" panose="02020603050405020304" pitchFamily="18" charset="0"/>
                <a:cs typeface="Times New Roman" panose="02020603050405020304" pitchFamily="18" charset="0"/>
              </a:rPr>
              <a:t>. </a:t>
            </a:r>
            <a:r>
              <a:rPr lang="vi-VN" sz="3200">
                <a:solidFill>
                  <a:srgbClr val="C00000"/>
                </a:solidFill>
                <a:effectLst/>
                <a:cs typeface="Times New Roman" panose="02020603050405020304" pitchFamily="18" charset="0"/>
              </a:rPr>
              <a:t>COMPARE WITH TRADITIONAL METHODS</a:t>
            </a:r>
            <a:endParaRPr lang="en-US"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6</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graphicFrame>
        <p:nvGraphicFramePr>
          <p:cNvPr id="8" name="Table 7"/>
          <p:cNvGraphicFramePr>
            <a:graphicFrameLocks noGrp="1"/>
          </p:cNvGraphicFramePr>
          <p:nvPr>
            <p:extLst>
              <p:ext uri="{D42A27DB-BD31-4B8C-83A1-F6EECF244321}">
                <p14:modId xmlns:p14="http://schemas.microsoft.com/office/powerpoint/2010/main" val="3696931254"/>
              </p:ext>
            </p:extLst>
          </p:nvPr>
        </p:nvGraphicFramePr>
        <p:xfrm>
          <a:off x="2303463" y="2514600"/>
          <a:ext cx="7581900" cy="2175690"/>
        </p:xfrm>
        <a:graphic>
          <a:graphicData uri="http://schemas.openxmlformats.org/drawingml/2006/table">
            <a:tbl>
              <a:tblPr firstRow="1" bandRow="1">
                <a:tableStyleId>{5C22544A-7EE6-4342-B048-85BDC9FD1C3A}</a:tableStyleId>
              </a:tblPr>
              <a:tblGrid>
                <a:gridCol w="2527300">
                  <a:extLst>
                    <a:ext uri="{9D8B030D-6E8A-4147-A177-3AD203B41FA5}">
                      <a16:colId xmlns:a16="http://schemas.microsoft.com/office/drawing/2014/main" val="2251377539"/>
                    </a:ext>
                  </a:extLst>
                </a:gridCol>
                <a:gridCol w="2527300">
                  <a:extLst>
                    <a:ext uri="{9D8B030D-6E8A-4147-A177-3AD203B41FA5}">
                      <a16:colId xmlns:a16="http://schemas.microsoft.com/office/drawing/2014/main" val="2006362037"/>
                    </a:ext>
                  </a:extLst>
                </a:gridCol>
                <a:gridCol w="2527300">
                  <a:extLst>
                    <a:ext uri="{9D8B030D-6E8A-4147-A177-3AD203B41FA5}">
                      <a16:colId xmlns:a16="http://schemas.microsoft.com/office/drawing/2014/main" val="617617456"/>
                    </a:ext>
                  </a:extLst>
                </a:gridCol>
              </a:tblGrid>
              <a:tr h="435138">
                <a:tc>
                  <a:txBody>
                    <a:bodyPr/>
                    <a:lstStyle/>
                    <a:p>
                      <a:r>
                        <a:rPr lang="en-US" smtClean="0">
                          <a:latin typeface="Times New Roman" panose="02020603050405020304" pitchFamily="18" charset="0"/>
                          <a:cs typeface="Times New Roman" panose="02020603050405020304" pitchFamily="18" charset="0"/>
                        </a:rPr>
                        <a:t>Criteria</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Traditional method</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Proposed System</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2281626"/>
                  </a:ext>
                </a:extLst>
              </a:tr>
              <a:tr h="435138">
                <a:tc>
                  <a:txBody>
                    <a:bodyPr/>
                    <a:lstStyle/>
                    <a:p>
                      <a:r>
                        <a:rPr lang="vi-VN" smtClean="0">
                          <a:latin typeface="Times New Roman" panose="02020603050405020304" pitchFamily="18" charset="0"/>
                          <a:cs typeface="Times New Roman" panose="02020603050405020304" pitchFamily="18" charset="0"/>
                        </a:rPr>
                        <a:t>Identification</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Paper tickets</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RFID</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025341"/>
                  </a:ext>
                </a:extLst>
              </a:tr>
              <a:tr h="435138">
                <a:tc>
                  <a:txBody>
                    <a:bodyPr/>
                    <a:lstStyle/>
                    <a:p>
                      <a:r>
                        <a:rPr lang="vi-VN" smtClean="0">
                          <a:latin typeface="Times New Roman" panose="02020603050405020304" pitchFamily="18" charset="0"/>
                          <a:cs typeface="Times New Roman" panose="02020603050405020304" pitchFamily="18" charset="0"/>
                        </a:rPr>
                        <a:t>Processing Speed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Slow</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Fast</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6396780"/>
                  </a:ext>
                </a:extLst>
              </a:tr>
              <a:tr h="435138">
                <a:tc>
                  <a:txBody>
                    <a:bodyPr/>
                    <a:lstStyle/>
                    <a:p>
                      <a:r>
                        <a:rPr lang="vi-VN" smtClean="0">
                          <a:latin typeface="Times New Roman" panose="02020603050405020304" pitchFamily="18" charset="0"/>
                          <a:cs typeface="Times New Roman" panose="02020603050405020304" pitchFamily="18" charset="0"/>
                        </a:rPr>
                        <a:t>Error Rate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High</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Low</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16867393"/>
                  </a:ext>
                </a:extLst>
              </a:tr>
              <a:tr h="435138">
                <a:tc>
                  <a:txBody>
                    <a:bodyPr/>
                    <a:lstStyle/>
                    <a:p>
                      <a:r>
                        <a:rPr lang="vi-VN" smtClean="0">
                          <a:latin typeface="Times New Roman" panose="02020603050405020304" pitchFamily="18" charset="0"/>
                          <a:cs typeface="Times New Roman" panose="02020603050405020304" pitchFamily="18" charset="0"/>
                        </a:rPr>
                        <a:t>Data Statistics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Manual</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Automated</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1752375"/>
                  </a:ext>
                </a:extLst>
              </a:tr>
            </a:tbl>
          </a:graphicData>
        </a:graphic>
      </p:graphicFrame>
    </p:spTree>
    <p:extLst>
      <p:ext uri="{BB962C8B-B14F-4D97-AF65-F5344CB8AC3E}">
        <p14:creationId xmlns:p14="http://schemas.microsoft.com/office/powerpoint/2010/main" val="3161781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167112"/>
            <a:ext cx="10825246" cy="309562"/>
          </a:xfrm>
        </p:spPr>
        <p:style>
          <a:lnRef idx="2">
            <a:schemeClr val="dk1"/>
          </a:lnRef>
          <a:fillRef idx="1">
            <a:schemeClr val="lt1"/>
          </a:fillRef>
          <a:effectRef idx="0">
            <a:schemeClr val="dk1"/>
          </a:effectRef>
          <a:fontRef idx="minor">
            <a:schemeClr val="dk1"/>
          </a:fontRef>
        </p:style>
        <p:txBody>
          <a:bodyPr/>
          <a:lstStyle/>
          <a:p>
            <a:pPr algn="ctr"/>
            <a:r>
              <a:rPr lang="en-US" sz="3200" dirty="0">
                <a:solidFill>
                  <a:srgbClr val="C00000"/>
                </a:solidFill>
                <a:effectLst/>
                <a:latin typeface="+mj-lt"/>
                <a:ea typeface="+mj-ea"/>
                <a:cs typeface="Times New Roman" panose="02020603050405020304" pitchFamily="18" charset="0"/>
              </a:rPr>
              <a:t>5</a:t>
            </a:r>
            <a:r>
              <a:rPr lang="en-US" sz="3200" smtClean="0">
                <a:solidFill>
                  <a:srgbClr val="C00000"/>
                </a:solidFill>
                <a:effectLst/>
                <a:latin typeface="+mj-lt"/>
                <a:ea typeface="+mj-ea"/>
                <a:cs typeface="Times New Roman" panose="02020603050405020304" pitchFamily="18" charset="0"/>
              </a:rPr>
              <a:t>. </a:t>
            </a:r>
            <a:r>
              <a:rPr lang="en-US" sz="3200">
                <a:solidFill>
                  <a:srgbClr val="C00000"/>
                </a:solidFill>
                <a:effectLst/>
                <a:latin typeface="+mj-lt"/>
                <a:ea typeface="+mj-ea"/>
                <a:cs typeface="Times New Roman" panose="02020603050405020304" pitchFamily="18" charset="0"/>
              </a:rPr>
              <a:t>STRENGTHS AND WEAKNESSES OF THE SYSTEM</a:t>
            </a:r>
            <a:endParaRPr lang="en-US" sz="3200" dirty="0">
              <a:solidFill>
                <a:srgbClr val="C00000"/>
              </a:solidFill>
              <a:effectLst/>
              <a:latin typeface="+mj-lt"/>
              <a:ea typeface="+mj-ea"/>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7</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graphicFrame>
        <p:nvGraphicFramePr>
          <p:cNvPr id="8" name="Table 7"/>
          <p:cNvGraphicFramePr>
            <a:graphicFrameLocks noGrp="1"/>
          </p:cNvGraphicFramePr>
          <p:nvPr>
            <p:extLst>
              <p:ext uri="{D42A27DB-BD31-4B8C-83A1-F6EECF244321}">
                <p14:modId xmlns:p14="http://schemas.microsoft.com/office/powerpoint/2010/main" val="3272553119"/>
              </p:ext>
            </p:extLst>
          </p:nvPr>
        </p:nvGraphicFramePr>
        <p:xfrm>
          <a:off x="2284412" y="2343195"/>
          <a:ext cx="7960361" cy="2250440"/>
        </p:xfrm>
        <a:graphic>
          <a:graphicData uri="http://schemas.openxmlformats.org/drawingml/2006/table">
            <a:tbl>
              <a:tblPr firstRow="1" bandRow="1">
                <a:tableStyleId>{10A1B5D5-9B99-4C35-A422-299274C87663}</a:tableStyleId>
              </a:tblPr>
              <a:tblGrid>
                <a:gridCol w="3814043">
                  <a:extLst>
                    <a:ext uri="{9D8B030D-6E8A-4147-A177-3AD203B41FA5}">
                      <a16:colId xmlns:a16="http://schemas.microsoft.com/office/drawing/2014/main" val="3380208610"/>
                    </a:ext>
                  </a:extLst>
                </a:gridCol>
                <a:gridCol w="4146318">
                  <a:extLst>
                    <a:ext uri="{9D8B030D-6E8A-4147-A177-3AD203B41FA5}">
                      <a16:colId xmlns:a16="http://schemas.microsoft.com/office/drawing/2014/main" val="1119397914"/>
                    </a:ext>
                  </a:extLst>
                </a:gridCol>
              </a:tblGrid>
              <a:tr h="137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smtClean="0">
                          <a:latin typeface="+mj-lt"/>
                        </a:rPr>
                        <a:t>Advantages</a:t>
                      </a:r>
                      <a:endParaRPr lang="vi-VN" sz="2000" smtClean="0">
                        <a:solidFill>
                          <a:schemeClr val="tx1"/>
                        </a:solidFill>
                        <a:latin typeface="+mj-lt"/>
                      </a:endParaRPr>
                    </a:p>
                  </a:txBody>
                  <a:tcPr>
                    <a:solidFill>
                      <a:srgbClr val="CF384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000" smtClean="0">
                          <a:latin typeface="+mj-lt"/>
                        </a:rPr>
                        <a:t>Disadvantages</a:t>
                      </a:r>
                      <a:endParaRPr lang="vi-VN" sz="2000" smtClean="0">
                        <a:solidFill>
                          <a:schemeClr val="tx1"/>
                        </a:solidFill>
                        <a:latin typeface="+mj-lt"/>
                      </a:endParaRPr>
                    </a:p>
                  </a:txBody>
                  <a:tcPr>
                    <a:solidFill>
                      <a:srgbClr val="F4A641"/>
                    </a:solidFill>
                  </a:tcPr>
                </a:tc>
                <a:extLst>
                  <a:ext uri="{0D108BD9-81ED-4DB2-BD59-A6C34878D82A}">
                    <a16:rowId xmlns:a16="http://schemas.microsoft.com/office/drawing/2014/main" val="211727673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High automation, low labor.</a:t>
                      </a:r>
                      <a:endParaRPr lang="vi-VN" sz="1600" smtClean="0">
                        <a:latin typeface="+mj-lt"/>
                        <a:cs typeface="Times New Roman" panose="02020603050405020304" pitchFamily="18" charset="0"/>
                      </a:endParaRPr>
                    </a:p>
                  </a:txBody>
                  <a:tcPr/>
                </a:tc>
                <a:tc>
                  <a:txBody>
                    <a:bodyPr/>
                    <a:lstStyle/>
                    <a:p>
                      <a:r>
                        <a:rPr lang="en-US" sz="1600" smtClean="0">
                          <a:latin typeface="+mj-lt"/>
                          <a:cs typeface="Times New Roman" panose="02020603050405020304" pitchFamily="18" charset="0"/>
                        </a:rPr>
                        <a:t>Camera affected by environment.</a:t>
                      </a:r>
                      <a:endParaRPr lang="en-US" sz="1600">
                        <a:latin typeface="+mj-lt"/>
                        <a:cs typeface="Times New Roman" panose="02020603050405020304" pitchFamily="18" charset="0"/>
                      </a:endParaRPr>
                    </a:p>
                  </a:txBody>
                  <a:tcPr/>
                </a:tc>
                <a:extLst>
                  <a:ext uri="{0D108BD9-81ED-4DB2-BD59-A6C34878D82A}">
                    <a16:rowId xmlns:a16="http://schemas.microsoft.com/office/drawing/2014/main" val="111646644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Fast, accurate RFID authentication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Short RFID reading range (&lt;5 cm).</a:t>
                      </a:r>
                      <a:endParaRPr lang="vi-VN" sz="1600" smtClean="0">
                        <a:latin typeface="+mj-lt"/>
                        <a:cs typeface="Times New Roman" panose="02020603050405020304" pitchFamily="18" charset="0"/>
                      </a:endParaRPr>
                    </a:p>
                  </a:txBody>
                  <a:tcPr/>
                </a:tc>
                <a:extLst>
                  <a:ext uri="{0D108BD9-81ED-4DB2-BD59-A6C34878D82A}">
                    <a16:rowId xmlns:a16="http://schemas.microsoft.com/office/drawing/2014/main" val="388591362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Centralized data management via web.</a:t>
                      </a:r>
                      <a:endParaRPr lang="vi-VN" sz="1600" smtClean="0">
                        <a:latin typeface="+mj-lt"/>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Auto-reset on power failure</a:t>
                      </a:r>
                      <a:endParaRPr lang="vi-VN" sz="1600" smtClean="0">
                        <a:latin typeface="+mj-lt"/>
                        <a:cs typeface="Times New Roman" panose="02020603050405020304" pitchFamily="18" charset="0"/>
                      </a:endParaRPr>
                    </a:p>
                  </a:txBody>
                  <a:tcPr/>
                </a:tc>
                <a:extLst>
                  <a:ext uri="{0D108BD9-81ED-4DB2-BD59-A6C34878D82A}">
                    <a16:rowId xmlns:a16="http://schemas.microsoft.com/office/drawing/2014/main" val="1183710528"/>
                  </a:ext>
                </a:extLst>
              </a:tr>
              <a:tr h="370840">
                <a:tc>
                  <a:txBody>
                    <a:bodyPr/>
                    <a:lstStyle/>
                    <a:p>
                      <a:r>
                        <a:rPr lang="en-US" sz="1600" smtClean="0">
                          <a:latin typeface="+mj-lt"/>
                          <a:cs typeface="Times New Roman" panose="02020603050405020304" pitchFamily="18" charset="0"/>
                        </a:rPr>
                        <a:t>Easily expandable: AI &amp; IoT</a:t>
                      </a:r>
                      <a:endParaRPr lang="en-US" sz="1600">
                        <a:latin typeface="+mj-lt"/>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600" smtClean="0">
                          <a:latin typeface="+mj-lt"/>
                          <a:cs typeface="Times New Roman" panose="02020603050405020304" pitchFamily="18" charset="0"/>
                        </a:rPr>
                        <a:t>Dependent on WiFi network.</a:t>
                      </a:r>
                    </a:p>
                  </a:txBody>
                  <a:tcPr/>
                </a:tc>
                <a:extLst>
                  <a:ext uri="{0D108BD9-81ED-4DB2-BD59-A6C34878D82A}">
                    <a16:rowId xmlns:a16="http://schemas.microsoft.com/office/drawing/2014/main" val="1726965160"/>
                  </a:ext>
                </a:extLst>
              </a:tr>
              <a:tr h="370840">
                <a:tc>
                  <a:txBody>
                    <a:bodyPr/>
                    <a:lstStyle/>
                    <a:p>
                      <a:r>
                        <a:rPr lang="en-US" sz="1600" smtClean="0">
                          <a:latin typeface="+mj-lt"/>
                          <a:cs typeface="Times New Roman" panose="02020603050405020304" pitchFamily="18" charset="0"/>
                        </a:rPr>
                        <a:t>Low-cost, readily available.</a:t>
                      </a:r>
                      <a:endParaRPr lang="en-US" sz="1600">
                        <a:latin typeface="+mj-lt"/>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mtClean="0">
                          <a:latin typeface="+mj-lt"/>
                          <a:cs typeface="Times New Roman" panose="02020603050405020304" pitchFamily="18" charset="0"/>
                        </a:rPr>
                        <a:t>Needs technical maintenance</a:t>
                      </a:r>
                      <a:r>
                        <a:rPr lang="vi-VN" sz="1600" smtClean="0">
                          <a:latin typeface="+mj-lt"/>
                          <a:cs typeface="Times New Roman" panose="02020603050405020304" pitchFamily="18" charset="0"/>
                        </a:rPr>
                        <a:t>.</a:t>
                      </a:r>
                    </a:p>
                  </a:txBody>
                  <a:tcPr/>
                </a:tc>
                <a:extLst>
                  <a:ext uri="{0D108BD9-81ED-4DB2-BD59-A6C34878D82A}">
                    <a16:rowId xmlns:a16="http://schemas.microsoft.com/office/drawing/2014/main" val="1129895507"/>
                  </a:ext>
                </a:extLst>
              </a:tr>
            </a:tbl>
          </a:graphicData>
        </a:graphic>
      </p:graphicFrame>
    </p:spTree>
    <p:extLst>
      <p:ext uri="{BB962C8B-B14F-4D97-AF65-F5344CB8AC3E}">
        <p14:creationId xmlns:p14="http://schemas.microsoft.com/office/powerpoint/2010/main" val="41130839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cs typeface="Times New Roman" panose="02020603050405020304" pitchFamily="18" charset="0"/>
              </a:rPr>
              <a:t>6</a:t>
            </a:r>
            <a:r>
              <a:rPr lang="en-US" sz="3200" smtClean="0">
                <a:solidFill>
                  <a:srgbClr val="C00000"/>
                </a:solidFill>
                <a:effectLst/>
                <a:cs typeface="Times New Roman" panose="02020603050405020304" pitchFamily="18" charset="0"/>
              </a:rPr>
              <a:t>. </a:t>
            </a:r>
            <a:r>
              <a:rPr lang="en-US" sz="3200">
                <a:solidFill>
                  <a:srgbClr val="C00000"/>
                </a:solidFill>
                <a:effectLst/>
                <a:cs typeface="Times New Roman" panose="02020603050405020304" pitchFamily="18" charset="0"/>
              </a:rPr>
              <a:t>SCHEMATIC DIAGRAM</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8</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7" name="Content Placeholder 6"/>
          <p:cNvPicPr>
            <a:picLocks noGrp="1" noChangeAspect="1"/>
          </p:cNvPicPr>
          <p:nvPr>
            <p:ph idx="1"/>
          </p:nvPr>
        </p:nvPicPr>
        <p:blipFill>
          <a:blip r:embed="rId2"/>
          <a:stretch>
            <a:fillRect/>
          </a:stretch>
        </p:blipFill>
        <p:spPr>
          <a:xfrm>
            <a:off x="2777895" y="1028482"/>
            <a:ext cx="6785436" cy="5029636"/>
          </a:xfrm>
          <a:prstGeom prst="rect">
            <a:avLst/>
          </a:prstGeom>
        </p:spPr>
      </p:pic>
    </p:spTree>
    <p:extLst>
      <p:ext uri="{BB962C8B-B14F-4D97-AF65-F5344CB8AC3E}">
        <p14:creationId xmlns:p14="http://schemas.microsoft.com/office/powerpoint/2010/main" val="29753156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13" y="359368"/>
            <a:ext cx="11658600" cy="334962"/>
          </a:xfrm>
        </p:spPr>
        <p:txBody>
          <a:bodyPr/>
          <a:lstStyle/>
          <a:p>
            <a:pPr algn="ctr"/>
            <a:r>
              <a:rPr lang="en-US" sz="3200" dirty="0">
                <a:solidFill>
                  <a:srgbClr val="C00000"/>
                </a:solidFill>
                <a:effectLst/>
                <a:cs typeface="Times New Roman" panose="02020603050405020304" pitchFamily="18" charset="0"/>
              </a:rPr>
              <a:t>7</a:t>
            </a:r>
            <a:r>
              <a:rPr lang="en-US" sz="3200" smtClean="0">
                <a:solidFill>
                  <a:srgbClr val="C00000"/>
                </a:solidFill>
                <a:effectLst/>
                <a:cs typeface="Times New Roman" panose="02020603050405020304" pitchFamily="18" charset="0"/>
              </a:rPr>
              <a:t>. </a:t>
            </a:r>
            <a:r>
              <a:rPr lang="en-US" sz="3200">
                <a:solidFill>
                  <a:srgbClr val="C00000"/>
                </a:solidFill>
                <a:effectLst/>
                <a:cs typeface="Times New Roman" panose="02020603050405020304" pitchFamily="18" charset="0"/>
              </a:rPr>
              <a:t>PCB LAYOUT</a:t>
            </a:r>
            <a:br>
              <a:rPr lang="en-US" sz="3200">
                <a:solidFill>
                  <a:srgbClr val="C00000"/>
                </a:solidFill>
                <a:effectLst/>
                <a:cs typeface="Times New Roman" panose="02020603050405020304" pitchFamily="18" charset="0"/>
              </a:rPr>
            </a:b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9</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11" name="Picture 10"/>
          <p:cNvPicPr/>
          <p:nvPr/>
        </p:nvPicPr>
        <p:blipFill>
          <a:blip r:embed="rId2"/>
          <a:stretch>
            <a:fillRect/>
          </a:stretch>
        </p:blipFill>
        <p:spPr>
          <a:xfrm>
            <a:off x="838200" y="1730830"/>
            <a:ext cx="5105400" cy="3524250"/>
          </a:xfrm>
          <a:prstGeom prst="rect">
            <a:avLst/>
          </a:prstGeom>
        </p:spPr>
      </p:pic>
      <p:pic>
        <p:nvPicPr>
          <p:cNvPr id="12" name="Picture 11"/>
          <p:cNvPicPr/>
          <p:nvPr/>
        </p:nvPicPr>
        <p:blipFill>
          <a:blip r:embed="rId3"/>
          <a:stretch>
            <a:fillRect/>
          </a:stretch>
        </p:blipFill>
        <p:spPr>
          <a:xfrm>
            <a:off x="6267891" y="1730829"/>
            <a:ext cx="5016500" cy="3524250"/>
          </a:xfrm>
          <a:prstGeom prst="rect">
            <a:avLst/>
          </a:prstGeom>
        </p:spPr>
      </p:pic>
    </p:spTree>
    <p:extLst>
      <p:ext uri="{BB962C8B-B14F-4D97-AF65-F5344CB8AC3E}">
        <p14:creationId xmlns:p14="http://schemas.microsoft.com/office/powerpoint/2010/main" val="10610406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dirty="0">
                <a:solidFill>
                  <a:srgbClr val="C00000"/>
                </a:solidFill>
                <a:effectLst/>
                <a:latin typeface="Times New Roman" panose="02020603050405020304" pitchFamily="18" charset="0"/>
                <a:cs typeface="Times New Roman" panose="02020603050405020304" pitchFamily="18" charset="0"/>
              </a:rPr>
              <a:t>8</a:t>
            </a:r>
            <a:r>
              <a:rPr lang="en-US" sz="3200" smtClean="0">
                <a:solidFill>
                  <a:srgbClr val="C00000"/>
                </a:solidFill>
                <a:effectLst/>
                <a:latin typeface="Times New Roman" panose="02020603050405020304" pitchFamily="18" charset="0"/>
                <a:cs typeface="Times New Roman" panose="02020603050405020304" pitchFamily="18" charset="0"/>
              </a:rPr>
              <a:t>. </a:t>
            </a:r>
            <a:r>
              <a:rPr lang="en-US" sz="3200">
                <a:solidFill>
                  <a:srgbClr val="C00000"/>
                </a:solidFill>
                <a:effectLst/>
                <a:latin typeface="Times New Roman" panose="02020603050405020304" pitchFamily="18" charset="0"/>
                <a:cs typeface="Times New Roman" panose="02020603050405020304" pitchFamily="18" charset="0"/>
              </a:rPr>
              <a:t>SYSTEM OVERVIEW</a:t>
            </a:r>
            <a:endParaRPr lang="en-US" sz="3200" dirty="0">
              <a:solidFill>
                <a:srgbClr val="C000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10</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a:t>Faculty of Computer Science</a:t>
            </a:r>
          </a:p>
        </p:txBody>
      </p:sp>
      <p:sp>
        <p:nvSpPr>
          <p:cNvPr id="7" name="object 4"/>
          <p:cNvSpPr txBox="1"/>
          <p:nvPr/>
        </p:nvSpPr>
        <p:spPr>
          <a:xfrm>
            <a:off x="685800" y="1905000"/>
            <a:ext cx="5956570" cy="2024913"/>
          </a:xfrm>
          <a:prstGeom prst="rect">
            <a:avLst/>
          </a:prstGeom>
        </p:spPr>
        <p:txBody>
          <a:bodyPr vert="horz" wrap="square" lIns="0" tIns="100330" rIns="0" bIns="0" rtlCol="0">
            <a:spAutoFit/>
          </a:bodyPr>
          <a:lstStyle/>
          <a:p>
            <a:r>
              <a:rPr lang="en-US" smtClean="0">
                <a:latin typeface="Times New Roman" panose="02020603050405020304" pitchFamily="18" charset="0"/>
                <a:cs typeface="Times New Roman" panose="02020603050405020304" pitchFamily="18" charset="0"/>
              </a:rPr>
              <a:t>The system is divided into four main parts</a:t>
            </a:r>
            <a:r>
              <a:rPr lang="vi-VN" smtClean="0">
                <a:latin typeface="Times New Roman" panose="02020603050405020304" pitchFamily="18" charset="0"/>
                <a:cs typeface="Times New Roman" panose="02020603050405020304" pitchFamily="18" charset="0"/>
              </a:rPr>
              <a:t>:</a:t>
            </a:r>
          </a:p>
          <a:p>
            <a:pPr marL="285750" indent="-285750">
              <a:spcBef>
                <a:spcPts val="600"/>
              </a:spcBef>
              <a:spcAft>
                <a:spcPts val="600"/>
              </a:spcAft>
              <a:buFontTx/>
              <a:buChar char="-"/>
            </a:pPr>
            <a:r>
              <a:rPr lang="vi-VN" smtClean="0">
                <a:latin typeface="Times New Roman" panose="02020603050405020304" pitchFamily="18" charset="0"/>
                <a:cs typeface="Times New Roman" panose="02020603050405020304" pitchFamily="18" charset="0"/>
              </a:rPr>
              <a:t>Input: RFID RC522, Camera</a:t>
            </a:r>
            <a:endParaRPr lang="en-US" smtClean="0">
              <a:latin typeface="Times New Roman" panose="02020603050405020304" pitchFamily="18" charset="0"/>
              <a:cs typeface="Times New Roman" panose="02020603050405020304" pitchFamily="18" charset="0"/>
            </a:endParaRPr>
          </a:p>
          <a:p>
            <a:pPr marL="285750" indent="-285750">
              <a:spcBef>
                <a:spcPts val="600"/>
              </a:spcBef>
              <a:spcAft>
                <a:spcPts val="600"/>
              </a:spcAft>
              <a:buFontTx/>
              <a:buChar char="-"/>
            </a:pPr>
            <a:r>
              <a:rPr lang="vi-VN" smtClean="0">
                <a:latin typeface="Times New Roman" panose="02020603050405020304" pitchFamily="18" charset="0"/>
                <a:cs typeface="Times New Roman" panose="02020603050405020304" pitchFamily="18" charset="0"/>
              </a:rPr>
              <a:t>Processing: ESP32</a:t>
            </a:r>
            <a:endParaRPr lang="en-US" smtClean="0">
              <a:latin typeface="Times New Roman" panose="02020603050405020304" pitchFamily="18" charset="0"/>
              <a:cs typeface="Times New Roman" panose="02020603050405020304" pitchFamily="18" charset="0"/>
            </a:endParaRPr>
          </a:p>
          <a:p>
            <a:pPr marL="285750" indent="-285750">
              <a:spcBef>
                <a:spcPts val="600"/>
              </a:spcBef>
              <a:spcAft>
                <a:spcPts val="600"/>
              </a:spcAft>
              <a:buFontTx/>
              <a:buChar char="-"/>
            </a:pPr>
            <a:r>
              <a:rPr lang="vi-VN" smtClean="0">
                <a:latin typeface="Times New Roman" panose="02020603050405020304" pitchFamily="18" charset="0"/>
                <a:cs typeface="Times New Roman" panose="02020603050405020304" pitchFamily="18" charset="0"/>
              </a:rPr>
              <a:t>Server &amp; Database: Web Server (XAMPP)</a:t>
            </a:r>
            <a:endParaRPr lang="en-US" smtClean="0">
              <a:latin typeface="Times New Roman" panose="02020603050405020304" pitchFamily="18" charset="0"/>
              <a:cs typeface="Times New Roman" panose="02020603050405020304" pitchFamily="18" charset="0"/>
            </a:endParaRPr>
          </a:p>
          <a:p>
            <a:pPr marL="285750" indent="-285750">
              <a:spcBef>
                <a:spcPts val="600"/>
              </a:spcBef>
              <a:spcAft>
                <a:spcPts val="600"/>
              </a:spcAft>
              <a:buFontTx/>
              <a:buChar char="-"/>
            </a:pPr>
            <a:r>
              <a:rPr lang="vi-VN" smtClean="0">
                <a:latin typeface="Times New Roman" panose="02020603050405020304" pitchFamily="18" charset="0"/>
                <a:cs typeface="Times New Roman" panose="02020603050405020304" pitchFamily="18" charset="0"/>
              </a:rPr>
              <a:t>Output: Barrier, LCD/Web, Buzzer.</a:t>
            </a:r>
            <a:endParaRPr lang="vi-VN">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5942012" y="1905000"/>
            <a:ext cx="5481508" cy="2986078"/>
          </a:xfrm>
          <a:prstGeom prst="rect">
            <a:avLst/>
          </a:prstGeom>
        </p:spPr>
      </p:pic>
    </p:spTree>
    <p:extLst>
      <p:ext uri="{BB962C8B-B14F-4D97-AF65-F5344CB8AC3E}">
        <p14:creationId xmlns:p14="http://schemas.microsoft.com/office/powerpoint/2010/main" val="2971890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a:solidFill>
                  <a:srgbClr val="C00000"/>
                </a:solidFill>
                <a:effectLst/>
                <a:cs typeface="Times New Roman" panose="02020603050405020304" pitchFamily="18" charset="0"/>
              </a:rPr>
              <a:t>9</a:t>
            </a:r>
            <a:r>
              <a:rPr lang="en-US" sz="3200" smtClean="0">
                <a:solidFill>
                  <a:srgbClr val="C00000"/>
                </a:solidFill>
                <a:effectLst/>
                <a:cs typeface="Times New Roman" panose="02020603050405020304" pitchFamily="18" charset="0"/>
              </a:rPr>
              <a:t>. </a:t>
            </a:r>
            <a:r>
              <a:rPr lang="en-US" sz="3200">
                <a:solidFill>
                  <a:srgbClr val="C00000"/>
                </a:solidFill>
                <a:effectLst/>
                <a:cs typeface="Times New Roman" panose="02020603050405020304" pitchFamily="18" charset="0"/>
              </a:rPr>
              <a:t>ALGORITHM FLOWCHART</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11</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8" name="Picture 7"/>
          <p:cNvPicPr/>
          <p:nvPr/>
        </p:nvPicPr>
        <p:blipFill>
          <a:blip r:embed="rId2"/>
          <a:stretch>
            <a:fillRect/>
          </a:stretch>
        </p:blipFill>
        <p:spPr>
          <a:xfrm>
            <a:off x="3371057" y="1066800"/>
            <a:ext cx="5446712" cy="5207549"/>
          </a:xfrm>
          <a:prstGeom prst="rect">
            <a:avLst/>
          </a:prstGeom>
        </p:spPr>
      </p:pic>
    </p:spTree>
    <p:extLst>
      <p:ext uri="{BB962C8B-B14F-4D97-AF65-F5344CB8AC3E}">
        <p14:creationId xmlns:p14="http://schemas.microsoft.com/office/powerpoint/2010/main" val="4323624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smtClean="0">
                <a:solidFill>
                  <a:srgbClr val="C00000"/>
                </a:solidFill>
                <a:effectLst/>
                <a:cs typeface="Times New Roman" panose="02020603050405020304" pitchFamily="18" charset="0"/>
              </a:rPr>
              <a:t>10. </a:t>
            </a:r>
            <a:r>
              <a:rPr lang="en-US" sz="3200">
                <a:solidFill>
                  <a:srgbClr val="C00000"/>
                </a:solidFill>
                <a:effectLst/>
                <a:cs typeface="Times New Roman" panose="02020603050405020304" pitchFamily="18" charset="0"/>
              </a:rPr>
              <a:t>ALGORITHM FLOWCHART</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12</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3" name="Picture 2"/>
          <p:cNvPicPr>
            <a:picLocks noChangeAspect="1"/>
          </p:cNvPicPr>
          <p:nvPr/>
        </p:nvPicPr>
        <p:blipFill>
          <a:blip r:embed="rId2"/>
          <a:stretch>
            <a:fillRect/>
          </a:stretch>
        </p:blipFill>
        <p:spPr>
          <a:xfrm>
            <a:off x="3360520" y="679787"/>
            <a:ext cx="5391583" cy="5730624"/>
          </a:xfrm>
          <a:prstGeom prst="rect">
            <a:avLst/>
          </a:prstGeom>
        </p:spPr>
      </p:pic>
    </p:spTree>
    <p:extLst>
      <p:ext uri="{BB962C8B-B14F-4D97-AF65-F5344CB8AC3E}">
        <p14:creationId xmlns:p14="http://schemas.microsoft.com/office/powerpoint/2010/main" val="18903088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smtClean="0">
                <a:solidFill>
                  <a:srgbClr val="C00000"/>
                </a:solidFill>
                <a:effectLst/>
                <a:cs typeface="Times New Roman" panose="02020603050405020304" pitchFamily="18" charset="0"/>
              </a:rPr>
              <a:t>11. </a:t>
            </a:r>
            <a:r>
              <a:rPr lang="en-US" sz="3200">
                <a:solidFill>
                  <a:srgbClr val="C00000"/>
                </a:solidFill>
                <a:effectLst/>
                <a:cs typeface="Times New Roman" panose="02020603050405020304" pitchFamily="18" charset="0"/>
              </a:rPr>
              <a:t>RESULTS ON THE WEB</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13</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3" name="Picture 2"/>
          <p:cNvPicPr>
            <a:picLocks noChangeAspect="1"/>
          </p:cNvPicPr>
          <p:nvPr/>
        </p:nvPicPr>
        <p:blipFill>
          <a:blip r:embed="rId2"/>
          <a:stretch>
            <a:fillRect/>
          </a:stretch>
        </p:blipFill>
        <p:spPr>
          <a:xfrm>
            <a:off x="1144443" y="1892334"/>
            <a:ext cx="9823738" cy="3305530"/>
          </a:xfrm>
          <a:prstGeom prst="rect">
            <a:avLst/>
          </a:prstGeom>
        </p:spPr>
      </p:pic>
    </p:spTree>
    <p:extLst>
      <p:ext uri="{BB962C8B-B14F-4D97-AF65-F5344CB8AC3E}">
        <p14:creationId xmlns:p14="http://schemas.microsoft.com/office/powerpoint/2010/main" val="3567168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smtClean="0">
                <a:solidFill>
                  <a:srgbClr val="C00000"/>
                </a:solidFill>
                <a:effectLst/>
                <a:cs typeface="Times New Roman" panose="02020603050405020304" pitchFamily="18" charset="0"/>
              </a:rPr>
              <a:t>11. </a:t>
            </a:r>
            <a:r>
              <a:rPr lang="en-US" sz="3200">
                <a:solidFill>
                  <a:srgbClr val="C00000"/>
                </a:solidFill>
                <a:effectLst/>
                <a:cs typeface="Times New Roman" panose="02020603050405020304" pitchFamily="18" charset="0"/>
              </a:rPr>
              <a:t>RESULTS ON THE WEB</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14</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pic>
        <p:nvPicPr>
          <p:cNvPr id="3" name="Picture 2"/>
          <p:cNvPicPr>
            <a:picLocks noChangeAspect="1"/>
          </p:cNvPicPr>
          <p:nvPr/>
        </p:nvPicPr>
        <p:blipFill>
          <a:blip r:embed="rId2"/>
          <a:stretch>
            <a:fillRect/>
          </a:stretch>
        </p:blipFill>
        <p:spPr>
          <a:xfrm>
            <a:off x="2400605" y="1261007"/>
            <a:ext cx="7387615" cy="4335985"/>
          </a:xfrm>
          <a:prstGeom prst="rect">
            <a:avLst/>
          </a:prstGeom>
        </p:spPr>
      </p:pic>
    </p:spTree>
    <p:extLst>
      <p:ext uri="{BB962C8B-B14F-4D97-AF65-F5344CB8AC3E}">
        <p14:creationId xmlns:p14="http://schemas.microsoft.com/office/powerpoint/2010/main" val="21057074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158678"/>
            <a:ext cx="11658600" cy="334962"/>
          </a:xfrm>
        </p:spPr>
        <p:txBody>
          <a:bodyPr/>
          <a:lstStyle/>
          <a:p>
            <a:pPr algn="ctr"/>
            <a:r>
              <a:rPr lang="en-US" sz="3200" smtClean="0">
                <a:solidFill>
                  <a:srgbClr val="C00000"/>
                </a:solidFill>
                <a:effectLst/>
                <a:cs typeface="Times New Roman" panose="02020603050405020304" pitchFamily="18" charset="0"/>
              </a:rPr>
              <a:t>11. </a:t>
            </a:r>
            <a:r>
              <a:rPr lang="en-US" sz="3200">
                <a:solidFill>
                  <a:srgbClr val="C00000"/>
                </a:solidFill>
                <a:effectLst/>
                <a:cs typeface="Times New Roman" panose="02020603050405020304" pitchFamily="18" charset="0"/>
              </a:rPr>
              <a:t>RESULTS ON THE WEB</a:t>
            </a:r>
            <a:endParaRPr lang="en-US" sz="3200" dirty="0">
              <a:solidFill>
                <a:srgbClr val="C00000"/>
              </a:solidFill>
              <a:effectLst/>
              <a:cs typeface="Times New Roman" panose="02020603050405020304" pitchFamily="18" charset="0"/>
            </a:endParaRPr>
          </a:p>
        </p:txBody>
      </p:sp>
      <p:sp>
        <p:nvSpPr>
          <p:cNvPr id="4" name="Slide Number Placeholder 3"/>
          <p:cNvSpPr>
            <a:spLocks noGrp="1"/>
          </p:cNvSpPr>
          <p:nvPr>
            <p:ph type="sldNum" sz="quarter" idx="4294967295"/>
          </p:nvPr>
        </p:nvSpPr>
        <p:spPr>
          <a:xfrm>
            <a:off x="10717759" y="6596558"/>
            <a:ext cx="1274480" cy="292975"/>
          </a:xfrm>
          <a:prstGeom prst="rect">
            <a:avLst/>
          </a:prstGeom>
        </p:spPr>
        <p:txBody>
          <a:bodyPr/>
          <a:lstStyle/>
          <a:p>
            <a:fld id="{4B6C3C4F-9159-40C9-88DB-2047BE0C5C26}" type="slidenum">
              <a:rPr lang="en-US" smtClean="0"/>
              <a:t>15</a:t>
            </a:fld>
            <a:endParaRPr lang="en-US"/>
          </a:p>
        </p:txBody>
      </p:sp>
      <p:sp>
        <p:nvSpPr>
          <p:cNvPr id="5" name="Footer Placeholder 3">
            <a:extLst>
              <a:ext uri="{FF2B5EF4-FFF2-40B4-BE49-F238E27FC236}">
                <a16:creationId xmlns:a16="http://schemas.microsoft.com/office/drawing/2014/main" id="{50F538F1-8F75-41DA-6467-566C7FCF6E6A}"/>
              </a:ext>
            </a:extLst>
          </p:cNvPr>
          <p:cNvSpPr>
            <a:spLocks noGrp="1"/>
          </p:cNvSpPr>
          <p:nvPr>
            <p:ph type="ftr" sz="quarter" idx="11"/>
          </p:nvPr>
        </p:nvSpPr>
        <p:spPr>
          <a:xfrm>
            <a:off x="48881" y="6521116"/>
            <a:ext cx="3859795" cy="365125"/>
          </a:xfrm>
        </p:spPr>
        <p:txBody>
          <a:bodyPr/>
          <a:lstStyle/>
          <a:p>
            <a:r>
              <a:rPr lang="en-US" dirty="0"/>
              <a:t>Faculty of Computer Science</a:t>
            </a:r>
          </a:p>
        </p:txBody>
      </p:sp>
      <p:sp>
        <p:nvSpPr>
          <p:cNvPr id="6" name="TextBox 5"/>
          <p:cNvSpPr txBox="1"/>
          <p:nvPr/>
        </p:nvSpPr>
        <p:spPr>
          <a:xfrm>
            <a:off x="4418012" y="4104609"/>
            <a:ext cx="3717139" cy="400110"/>
          </a:xfrm>
          <a:prstGeom prst="rect">
            <a:avLst/>
          </a:prstGeom>
          <a:noFill/>
        </p:spPr>
        <p:txBody>
          <a:bodyPr wrap="square" rtlCol="0">
            <a:spAutoFit/>
          </a:bodyPr>
          <a:lstStyle/>
          <a:p>
            <a:r>
              <a:rPr lang="en-US" sz="2000" smtClean="0"/>
              <a:t>Entry and Exit History Table</a:t>
            </a:r>
            <a:endParaRPr lang="en-US" sz="2000"/>
          </a:p>
        </p:txBody>
      </p:sp>
      <p:pic>
        <p:nvPicPr>
          <p:cNvPr id="7" name="Picture 6"/>
          <p:cNvPicPr/>
          <p:nvPr/>
        </p:nvPicPr>
        <p:blipFill rotWithShape="1">
          <a:blip r:embed="rId2"/>
          <a:srcRect l="18290" r="22126" b="490"/>
          <a:stretch/>
        </p:blipFill>
        <p:spPr>
          <a:xfrm>
            <a:off x="3481600" y="1147521"/>
            <a:ext cx="5225626" cy="3035981"/>
          </a:xfrm>
          <a:prstGeom prst="rect">
            <a:avLst/>
          </a:prstGeom>
        </p:spPr>
      </p:pic>
      <p:pic>
        <p:nvPicPr>
          <p:cNvPr id="9" name="Picture 8"/>
          <p:cNvPicPr/>
          <p:nvPr/>
        </p:nvPicPr>
        <p:blipFill rotWithShape="1">
          <a:blip r:embed="rId3"/>
          <a:srcRect l="4007" t="5953" r="5154" b="4762"/>
          <a:stretch/>
        </p:blipFill>
        <p:spPr>
          <a:xfrm>
            <a:off x="3215224" y="4636693"/>
            <a:ext cx="5758378" cy="1386619"/>
          </a:xfrm>
          <a:prstGeom prst="rect">
            <a:avLst/>
          </a:prstGeom>
        </p:spPr>
      </p:pic>
      <p:sp>
        <p:nvSpPr>
          <p:cNvPr id="10" name="TextBox 9"/>
          <p:cNvSpPr txBox="1"/>
          <p:nvPr/>
        </p:nvSpPr>
        <p:spPr>
          <a:xfrm>
            <a:off x="4975182" y="5955231"/>
            <a:ext cx="2886015" cy="400110"/>
          </a:xfrm>
          <a:prstGeom prst="rect">
            <a:avLst/>
          </a:prstGeom>
          <a:noFill/>
        </p:spPr>
        <p:txBody>
          <a:bodyPr wrap="square" rtlCol="0">
            <a:spAutoFit/>
          </a:bodyPr>
          <a:lstStyle/>
          <a:p>
            <a:r>
              <a:rPr lang="en-US" sz="2000" smtClean="0"/>
              <a:t>List of invalid cards</a:t>
            </a:r>
            <a:endParaRPr lang="en-US" sz="2000"/>
          </a:p>
        </p:txBody>
      </p:sp>
    </p:spTree>
    <p:extLst>
      <p:ext uri="{BB962C8B-B14F-4D97-AF65-F5344CB8AC3E}">
        <p14:creationId xmlns:p14="http://schemas.microsoft.com/office/powerpoint/2010/main" val="3853647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Faculty of Computer Science</a:t>
            </a:r>
          </a:p>
        </p:txBody>
      </p:sp>
      <p:sp>
        <p:nvSpPr>
          <p:cNvPr id="6" name="Slide Number Placeholder 5"/>
          <p:cNvSpPr>
            <a:spLocks noGrp="1"/>
          </p:cNvSpPr>
          <p:nvPr>
            <p:ph type="sldNum" sz="quarter" idx="12"/>
          </p:nvPr>
        </p:nvSpPr>
        <p:spPr/>
        <p:txBody>
          <a:bodyPr/>
          <a:lstStyle/>
          <a:p>
            <a:fld id="{20A7A832-6730-4971-A5D3-FA5C81A3095C}" type="slidenum">
              <a:rPr lang="en-US" smtClean="0"/>
              <a:t>16</a:t>
            </a:fld>
            <a:endParaRPr lang="en-US"/>
          </a:p>
        </p:txBody>
      </p:sp>
      <p:sp>
        <p:nvSpPr>
          <p:cNvPr id="4" name="Title 3"/>
          <p:cNvSpPr>
            <a:spLocks noGrp="1"/>
          </p:cNvSpPr>
          <p:nvPr>
            <p:ph type="title"/>
          </p:nvPr>
        </p:nvSpPr>
        <p:spPr>
          <a:xfrm>
            <a:off x="2741612" y="2209800"/>
            <a:ext cx="6629400" cy="1752600"/>
          </a:xfrm>
        </p:spPr>
        <p:txBody>
          <a:bodyPr/>
          <a:lstStyle/>
          <a:p>
            <a:r>
              <a:rPr lang="en-US" sz="8000" dirty="0">
                <a:latin typeface="Times New Roman" panose="02020603050405020304" pitchFamily="18" charset="0"/>
                <a:cs typeface="Times New Roman" panose="02020603050405020304" pitchFamily="18" charset="0"/>
              </a:rPr>
              <a:t>Thank You!</a:t>
            </a:r>
          </a:p>
        </p:txBody>
      </p:sp>
      <p:sp>
        <p:nvSpPr>
          <p:cNvPr id="7" name="Footer Placeholder 4"/>
          <p:cNvSpPr txBox="1">
            <a:spLocks/>
          </p:cNvSpPr>
          <p:nvPr/>
        </p:nvSpPr>
        <p:spPr>
          <a:xfrm>
            <a:off x="3427412" y="838200"/>
            <a:ext cx="5562600" cy="381000"/>
          </a:xfrm>
          <a:prstGeom prst="rect">
            <a:avLst/>
          </a:prstGeom>
        </p:spPr>
        <p:txBody>
          <a:bodyPr vert="horz" lIns="91440" tIns="45720" rIns="91440" bIns="45720" rtlCol="0" anchor="ctr"/>
          <a:lstStyle>
            <a:defPPr>
              <a:defRPr lang="en-US"/>
            </a:defPPr>
            <a:lvl1pPr marL="0" algn="ctr" defTabSz="914400" rtl="0" eaLnBrk="1" latinLnBrk="0" hangingPunct="1">
              <a:defRPr sz="2800" b="1"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solidFill>
                  <a:srgbClr val="C00000"/>
                </a:solidFill>
              </a:rPr>
              <a:t>Nhân bản</a:t>
            </a:r>
            <a:r>
              <a:rPr lang="en-US" sz="2000">
                <a:solidFill>
                  <a:schemeClr val="accent1">
                    <a:lumMod val="75000"/>
                  </a:schemeClr>
                </a:solidFill>
              </a:rPr>
              <a:t> – </a:t>
            </a:r>
            <a:r>
              <a:rPr lang="en-US" sz="2000">
                <a:solidFill>
                  <a:srgbClr val="FFC000"/>
                </a:solidFill>
              </a:rPr>
              <a:t>Phụng sự</a:t>
            </a:r>
            <a:r>
              <a:rPr lang="en-US" sz="2000">
                <a:solidFill>
                  <a:schemeClr val="accent1">
                    <a:lumMod val="75000"/>
                  </a:schemeClr>
                </a:solidFill>
              </a:rPr>
              <a:t> – </a:t>
            </a:r>
            <a:r>
              <a:rPr lang="en-US" sz="2000">
                <a:solidFill>
                  <a:srgbClr val="002060"/>
                </a:solidFill>
              </a:rPr>
              <a:t>Khai phóng</a:t>
            </a:r>
            <a:endParaRPr lang="en-US" sz="2000"/>
          </a:p>
        </p:txBody>
      </p:sp>
    </p:spTree>
    <p:extLst>
      <p:ext uri="{BB962C8B-B14F-4D97-AF65-F5344CB8AC3E}">
        <p14:creationId xmlns:p14="http://schemas.microsoft.com/office/powerpoint/2010/main" val="4270077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761</TotalTime>
  <Words>1015</Words>
  <Application>Microsoft Office PowerPoint</Application>
  <PresentationFormat>Custom</PresentationFormat>
  <Paragraphs>152</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FACULTY OF COMPUTER ENGINEERING AND ELECTRONICS</vt:lpstr>
      <vt:lpstr>1. Reasons for Choosing the Topic</vt:lpstr>
      <vt:lpstr>2. Project Goals</vt:lpstr>
      <vt:lpstr>3. FEATURES &amp; TECHNOLOGY</vt:lpstr>
      <vt:lpstr>3. FEATURES &amp; OUTSTANDING TECHNOLOGY</vt:lpstr>
      <vt:lpstr>4. COMPARE WITH TRADITIONAL METHODS</vt:lpstr>
      <vt:lpstr>5. STRENGTHS AND WEAKNESSES OF THE SYSTEM</vt:lpstr>
      <vt:lpstr>6. SCHEMATIC DIAGRAM</vt:lpstr>
      <vt:lpstr>7. PCB LAYOUT </vt:lpstr>
      <vt:lpstr>8. SYSTEM OVERVIEW</vt:lpstr>
      <vt:lpstr>9. ALGORITHM FLOWCHART</vt:lpstr>
      <vt:lpstr>10. ALGORITHM FLOWCHART</vt:lpstr>
      <vt:lpstr>11. RESULTS ON THE WEB</vt:lpstr>
      <vt:lpstr>11. RESULTS ON THE WEB</vt:lpstr>
      <vt:lpstr>11. RESULTS ON THE WEB</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LeNga</dc:creator>
  <cp:lastModifiedBy>Trương Quốc Tú</cp:lastModifiedBy>
  <cp:revision>91</cp:revision>
  <dcterms:created xsi:type="dcterms:W3CDTF">2021-12-14T10:45:07Z</dcterms:created>
  <dcterms:modified xsi:type="dcterms:W3CDTF">2026-01-11T02:55:00Z</dcterms:modified>
</cp:coreProperties>
</file>